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Roboto"/>
      <p:regular r:id="rId27"/>
      <p:bold r:id="rId28"/>
      <p:italic r:id="rId29"/>
      <p:boldItalic r:id="rId30"/>
    </p:embeddedFont>
    <p:embeddedFont>
      <p:font typeface="Lato"/>
      <p:regular r:id="rId31"/>
      <p:bold r:id="rId32"/>
      <p:italic r:id="rId33"/>
      <p:boldItalic r:id="rId34"/>
    </p:embeddedFont>
    <p:embeddedFont>
      <p:font typeface="Instrument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512C5F-41BD-49D8-A885-8C5C37D59C2E}">
  <a:tblStyle styleId="{90512C5F-41BD-49D8-A885-8C5C37D59C2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Roboto-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regular.fntdata"/><Relationship Id="rId30" Type="http://schemas.openxmlformats.org/officeDocument/2006/relationships/font" Target="fonts/Roboto-boldItalic.fntdata"/><Relationship Id="rId11" Type="http://schemas.openxmlformats.org/officeDocument/2006/relationships/slide" Target="slides/slide4.xml"/><Relationship Id="rId33" Type="http://schemas.openxmlformats.org/officeDocument/2006/relationships/font" Target="fonts/Lato-italic.fntdata"/><Relationship Id="rId10" Type="http://schemas.openxmlformats.org/officeDocument/2006/relationships/slide" Target="slides/slide3.xml"/><Relationship Id="rId32" Type="http://schemas.openxmlformats.org/officeDocument/2006/relationships/font" Target="fonts/Lato-bold.fntdata"/><Relationship Id="rId13" Type="http://schemas.openxmlformats.org/officeDocument/2006/relationships/slide" Target="slides/slide6.xml"/><Relationship Id="rId35" Type="http://schemas.openxmlformats.org/officeDocument/2006/relationships/font" Target="fonts/InstrumentSans-regular.fntdata"/><Relationship Id="rId12" Type="http://schemas.openxmlformats.org/officeDocument/2006/relationships/slide" Target="slides/slide5.xml"/><Relationship Id="rId34" Type="http://schemas.openxmlformats.org/officeDocument/2006/relationships/font" Target="fonts/Lato-boldItalic.fntdata"/><Relationship Id="rId15" Type="http://schemas.openxmlformats.org/officeDocument/2006/relationships/slide" Target="slides/slide8.xml"/><Relationship Id="rId37" Type="http://schemas.openxmlformats.org/officeDocument/2006/relationships/font" Target="fonts/InstrumentSans-italic.fntdata"/><Relationship Id="rId14" Type="http://schemas.openxmlformats.org/officeDocument/2006/relationships/slide" Target="slides/slide7.xml"/><Relationship Id="rId36" Type="http://schemas.openxmlformats.org/officeDocument/2006/relationships/font" Target="fonts/InstrumentSans-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InstrumentSans-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ihep.org/what-is-autoimmune-hepatitis/" TargetMode="External"/><Relationship Id="rId3" Type="http://schemas.openxmlformats.org/officeDocument/2006/relationships/hyperlink" Target="https://journals.lww.com/hepcomm/fulltext/2025/11010/the_prevalence_of_autoimmune_hepatitis_is_rising_.3.aspx" TargetMode="External"/><Relationship Id="rId4" Type="http://schemas.openxmlformats.org/officeDocument/2006/relationships/hyperlink" Target="https://journals.lww.com/ajg/fulltext/2018/02000/hospitalizations_for_autoimmune_hepatitis.18.aspx"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010c734a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010c734a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AIH is an immune-mediated liver disease characterized by immune cells attacking hepatocytes. This disease leads to chronic liver inflammation, cirrhosis, and death if left untreated.</a:t>
            </a:r>
            <a:endParaRPr b="1" sz="1200"/>
          </a:p>
          <a:p>
            <a:pPr indent="-304800" lvl="0" marL="457200" rtl="0" algn="l">
              <a:spcBef>
                <a:spcPts val="0"/>
              </a:spcBef>
              <a:spcAft>
                <a:spcPts val="0"/>
              </a:spcAft>
              <a:buClr>
                <a:schemeClr val="dk1"/>
              </a:buClr>
              <a:buSzPts val="1200"/>
              <a:buChar char="●"/>
            </a:pPr>
            <a:r>
              <a:rPr b="1" lang="en" sz="1200">
                <a:solidFill>
                  <a:schemeClr val="dk1"/>
                </a:solidFill>
              </a:rPr>
              <a:t>AIH incidence and prevalence is rising, and multiple research groups have observed AIH hospitalizations occurring at disproportionately higher rates among women and people of color.</a:t>
            </a:r>
            <a:endParaRPr b="1"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However, current diagnostic methods are invasive, requiring liver biopsies, and treatment options are limited, requiring lifelong immunosuppression. [click] A lot remains unknown about the pathology of AIH, so if we have a better understanding of AIH, we can develop better diagnostic methods. To do this, we used a combination of single-nuclei and spatial techniques to characterize AIH.</a:t>
            </a:r>
            <a:endParaRPr b="1"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u="sng">
                <a:solidFill>
                  <a:schemeClr val="hlink"/>
                </a:solidFill>
                <a:hlinkClick r:id="rId2"/>
              </a:rPr>
              <a:t>https//aihep.org/what-is-autoimmune-hepatitis/</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u="sng">
                <a:solidFill>
                  <a:schemeClr val="hlink"/>
                </a:solidFill>
                <a:hlinkClick r:id="rId3"/>
              </a:rPr>
              <a:t>https://journals.lww.com/hepcomm/fulltext/2025/11010/the_prevalence_of_autoimmune_hepatitis_is_rising_.3.aspx</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u="sng">
                <a:solidFill>
                  <a:schemeClr val="hlink"/>
                </a:solidFill>
                <a:hlinkClick r:id="rId4"/>
              </a:rPr>
              <a:t>https://journals.lww.com/ajg/fulltext/2018/02000/hospitalizations_for_autoimmune_hepatitis.18.aspx</a:t>
            </a:r>
            <a:endParaRPr sz="1200">
              <a:solidFill>
                <a:schemeClr val="dk1"/>
              </a:solidFill>
            </a:endParaRPr>
          </a:p>
          <a:p>
            <a:pPr indent="0" lvl="0" marL="0" rtl="0" algn="l">
              <a:spcBef>
                <a:spcPts val="0"/>
              </a:spcBef>
              <a:spcAft>
                <a:spcPts val="0"/>
              </a:spcAft>
              <a:buNone/>
            </a:pPr>
            <a:r>
              <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7208e5e68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7208e5e68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We first performed single-nuclei on liver tissues from 7 patients with AIH, merged with publicly available data from 3 healthy controls. The 7 patients are from the POSULD cohort, a well-characterized, diverse group of patients with integrated clinical and molecular data.</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[CLICK] From these patients, we collected roughly ~58k nuclei representing a broad array of cell types, as shown in this UMAP. Each dot represents a nuclei and nuclei with similar gene expression profiles form clusters.</a:t>
            </a:r>
            <a:endParaRPr b="1"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e010c734a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e010c734a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Previous bulk-RNA </a:t>
            </a:r>
            <a:r>
              <a:rPr b="1" lang="en" sz="1200"/>
              <a:t>seq </a:t>
            </a:r>
            <a:r>
              <a:rPr b="1" lang="en" sz="1200"/>
              <a:t>studies identified these key markers up</a:t>
            </a:r>
            <a:r>
              <a:rPr b="1" lang="en" sz="1200"/>
              <a:t>regulated in AIH patients, but our single-nuclei data helped us further identify</a:t>
            </a:r>
            <a:r>
              <a:rPr b="1" lang="en" sz="1200"/>
              <a:t> that their expression is localized to myeloid cells and lymphocytes, linking these cell types to AIH pathology.</a:t>
            </a:r>
            <a:endParaRPr b="1" sz="1200"/>
          </a:p>
          <a:p>
            <a:pPr indent="-304800" lvl="0" marL="457200" rtl="0" algn="l">
              <a:spcBef>
                <a:spcPts val="0"/>
              </a:spcBef>
              <a:spcAft>
                <a:spcPts val="0"/>
              </a:spcAft>
              <a:buClr>
                <a:schemeClr val="dk1"/>
              </a:buClr>
              <a:buSzPts val="1200"/>
              <a:buChar char="●"/>
            </a:pPr>
            <a:r>
              <a:rPr b="1" lang="en" sz="1200">
                <a:solidFill>
                  <a:schemeClr val="dk1"/>
                </a:solidFill>
              </a:rPr>
              <a:t>Pathway analysis showed an upregulation of two key CD40 signaling pathway genes in our AIH livers, and seen in this expression plot.</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The CD40 receptor is expressed by B cells and binds the CD40-ligand expressed by activated CD4+ T cells. This second expression plot shows an upregulation of the CD40/CD40LG signal-receptor pair in AIH livers by their respective cell types.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Secondly, our collaborators used Phip-seq to identify AFF3 as a novel auto-antigen associated with AIH. We confirmed AFF3 expression is upregulated in AIH livers and further localized to Periportal Hepatocytes. This suggests that the periportal region may be the site of damage.</a:t>
            </a:r>
            <a:endParaRPr b="1"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d828e0dbb6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d828e0dbb6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To</a:t>
            </a:r>
            <a:r>
              <a:rPr b="1" lang="en" sz="1200">
                <a:solidFill>
                  <a:schemeClr val="dk1"/>
                </a:solidFill>
              </a:rPr>
              <a:t> characterize AIH-related changes in situ, </a:t>
            </a:r>
            <a:r>
              <a:rPr b="1" lang="en" sz="1200">
                <a:solidFill>
                  <a:schemeClr val="dk1"/>
                </a:solidFill>
              </a:rPr>
              <a:t>we applied spatial transcriptomics using the 10x Xenium platform </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We generated liver tissue microarrays using liver biopsy samples from 48 patients: 42 patients from the POSULD cohort, some with AIH and others with MASLD, and 6 healthy human controls. I just showed you single-nuclei data from 7 of the 42 POSULD patients.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We then applied probes from our custom 480-gene human liver panel, which allow us to generate a counts matrix of our spatial data. This counts matrix can then be translated through downstream analysis to a UMAP where liver cell types are identified.</a:t>
            </a:r>
            <a:endParaRPr b="1"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828e0dbb6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828e0dbb6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From these patients, we spatially identified 1.3 million cells in total and parsed apart major cell types. We can map these cell types back to their respective cores and view them in their native liver context, as seen in the example liver core on the right.</a:t>
            </a:r>
            <a:endParaRPr b="1"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d8641045b2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d8641045b2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The H&amp;E images showed inflammation in the portal region[point then click]. Using our spatial data, we are able to quantify the </a:t>
            </a:r>
            <a:r>
              <a:rPr b="1" lang="en" sz="1200">
                <a:solidFill>
                  <a:schemeClr val="dk1"/>
                </a:solidFill>
              </a:rPr>
              <a:t>proportions of cell types in the portal region of each liver core.</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In this barplot, we see that the </a:t>
            </a:r>
            <a:r>
              <a:rPr b="1" lang="en" sz="1200">
                <a:solidFill>
                  <a:schemeClr val="dk1"/>
                </a:solidFill>
              </a:rPr>
              <a:t>Lymphocyte and Myeloid proportion increases in the portal region of diseased livers, corroborating our single-nuclei findings that these cell types are implicated in AIH pathology.</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However, when we split this proportion barplot by patient, we can see the distribution is not equal with diseased patients ranging from having very large to smaller proportions of immune cells. So, we sought to figure out what other spatial features differentiate these patients, and can we correlate those spatial differences to patient condition to identify clinically relevant patient groups?</a:t>
            </a:r>
            <a:endParaRPr b="1" sz="1200">
              <a:solidFill>
                <a:schemeClr val="dk1"/>
              </a:solidFill>
            </a:endParaRPr>
          </a:p>
          <a:p>
            <a:pPr indent="0" lvl="0" marL="0" rtl="0" algn="l">
              <a:spcBef>
                <a:spcPts val="0"/>
              </a:spcBef>
              <a:spcAft>
                <a:spcPts val="0"/>
              </a:spcAft>
              <a:buNone/>
            </a:pPr>
            <a:r>
              <a:t/>
            </a:r>
            <a:endParaRPr b="1" sz="12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d828e0dbb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d828e0dbb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To answer this question, first we created a patient feature matrix of all spatial features we could think of, including the proportions of </a:t>
            </a:r>
            <a:r>
              <a:rPr b="1" lang="en" sz="1200"/>
              <a:t>all</a:t>
            </a:r>
            <a:r>
              <a:rPr b="1" lang="en" sz="1200"/>
              <a:t> cell types across the lobule and within each lobular region, as well as gene expression scores of major cell types, signaling pathways, and AIH-associated genes from previous literature.</a:t>
            </a:r>
            <a:endParaRPr b="1" sz="1200"/>
          </a:p>
          <a:p>
            <a:pPr indent="-304800" lvl="0" marL="457200" rtl="0" algn="l">
              <a:spcBef>
                <a:spcPts val="0"/>
              </a:spcBef>
              <a:spcAft>
                <a:spcPts val="0"/>
              </a:spcAft>
              <a:buSzPts val="1200"/>
              <a:buChar char="●"/>
            </a:pPr>
            <a:r>
              <a:rPr b="1" lang="en" sz="1200"/>
              <a:t>We could then use unbiased clustering methods to cluster patients based purely on their spatial features.</a:t>
            </a:r>
            <a:endParaRPr b="1"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8641045b2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8641045b2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Turns out, we are able to identify 6 patient groups using ONLY spatial features:</a:t>
            </a:r>
            <a:r>
              <a:rPr b="1" lang="en" sz="1200"/>
              <a:t> a normal, least injured, nafld dominant, mixed diagnoses, fibrotic, and AIH dominant patient group.</a:t>
            </a:r>
            <a:endParaRPr b="1" sz="1200"/>
          </a:p>
          <a:p>
            <a:pPr indent="-304800" lvl="0" marL="457200" rtl="0" algn="l">
              <a:spcBef>
                <a:spcPts val="0"/>
              </a:spcBef>
              <a:spcAft>
                <a:spcPts val="0"/>
              </a:spcAft>
              <a:buSzPts val="1200"/>
              <a:buChar char="●"/>
            </a:pPr>
            <a:r>
              <a:rPr b="1" lang="en" sz="1200"/>
              <a:t>Looking at this barplot, we</a:t>
            </a:r>
            <a:r>
              <a:rPr b="1" lang="en" sz="1200">
                <a:solidFill>
                  <a:schemeClr val="dk1"/>
                </a:solidFill>
              </a:rPr>
              <a:t> see these groups </a:t>
            </a:r>
            <a:r>
              <a:rPr b="1" lang="en" sz="1200">
                <a:solidFill>
                  <a:schemeClr val="dk1"/>
                </a:solidFill>
              </a:rPr>
              <a:t>roughly correspond with clinical diagnosis, as our </a:t>
            </a:r>
            <a:r>
              <a:rPr b="1" lang="en" sz="1200"/>
              <a:t>normal patients group </a:t>
            </a:r>
            <a:r>
              <a:rPr b="1" lang="en" sz="1200"/>
              <a:t>together</a:t>
            </a:r>
            <a:r>
              <a:rPr b="1" lang="en" sz="1200"/>
              <a:t> and the AIH-dominant patient group has mostly AIH-diagnosed patients.</a:t>
            </a:r>
            <a:endParaRPr b="1"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8641045b2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8641045b2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These patient groups also roughly correspond with clinical metadata, and you can see that the AIH dominant group has the highest inflammation grade and </a:t>
            </a:r>
            <a:r>
              <a:rPr b="1" lang="en" sz="1200">
                <a:solidFill>
                  <a:schemeClr val="dk1"/>
                </a:solidFill>
              </a:rPr>
              <a:t>the highest ALT serum marker values.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In line with this, we see that immune cells like Lymphocytes and Myeloid cells are enriched in the portal region of the AIH dominant patient group livers as compared to the rest.</a:t>
            </a:r>
            <a:endParaRPr b="1"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828e0dbb6_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828e0dbb6_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In our spatial </a:t>
            </a:r>
            <a:r>
              <a:rPr b="1" lang="en" sz="1200">
                <a:solidFill>
                  <a:schemeClr val="dk1"/>
                </a:solidFill>
              </a:rPr>
              <a:t>dataset, we find the same upregulation of CD40/CD40LG in the B cells and CD4+T cells of AIH patient livers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We also see the same upregulation of AFF3 in the Periportal hepatocytes of AIH livers, validating our single-nuclei findings.</a:t>
            </a:r>
            <a:endParaRPr b="1"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8641045b2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8641045b2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Lastly, we can use spatial neighboring algorithms to identify pairs of B/T cells that co-express the CD40-CD40LG signal receptor pair.</a:t>
            </a:r>
            <a:endParaRPr b="1" sz="1200"/>
          </a:p>
          <a:p>
            <a:pPr indent="-304800" lvl="0" marL="457200" rtl="0" algn="l">
              <a:spcBef>
                <a:spcPts val="0"/>
              </a:spcBef>
              <a:spcAft>
                <a:spcPts val="0"/>
              </a:spcAft>
              <a:buSzPts val="1200"/>
              <a:buChar char="●"/>
            </a:pPr>
            <a:r>
              <a:rPr b="1" lang="en" sz="1200"/>
              <a:t>When we plot the distribution of B/T pairs across Patient group, we see that the AIH dominant </a:t>
            </a:r>
            <a:r>
              <a:rPr b="1" lang="en" sz="1200"/>
              <a:t>patient group has the highest number of b/t pairs.</a:t>
            </a:r>
            <a:endParaRPr b="1" sz="1200"/>
          </a:p>
          <a:p>
            <a:pPr indent="-304800" lvl="0" marL="457200" rtl="0" algn="l">
              <a:spcBef>
                <a:spcPts val="0"/>
              </a:spcBef>
              <a:spcAft>
                <a:spcPts val="0"/>
              </a:spcAft>
              <a:buSzPts val="1200"/>
              <a:buChar char="●"/>
            </a:pPr>
            <a:r>
              <a:rPr b="1" lang="en" sz="1200"/>
              <a:t>Overall, these patient groups have a lot of potential usage for discovery, as we keep searching for other features that distinguish these patient groups and find other cell types and pathways that can be targeted in treating AIH.</a:t>
            </a:r>
            <a:endParaRPr b="1"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d8641045b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d8641045b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d71185702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d71185702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Char char="●"/>
            </a:pPr>
            <a:r>
              <a:rPr b="1" lang="en" sz="1200">
                <a:solidFill>
                  <a:srgbClr val="404040"/>
                </a:solidFill>
              </a:rPr>
              <a:t>However, current diagnostic methods are invasive, requiring liver biopsies, and treatment options are limited, requiring non-specific immunosuppression. A lot remains unknown about the pathology of AIH, so if we can develop a better understanding of AIH, we can develop better diagnostic methods.</a:t>
            </a:r>
            <a:endParaRPr b="1" sz="1200">
              <a:solidFill>
                <a:schemeClr val="dk1"/>
              </a:solidFill>
            </a:endParaRPr>
          </a:p>
          <a:p>
            <a:pPr indent="0" lvl="0" marL="0" rtl="0" algn="l">
              <a:lnSpc>
                <a:spcPct val="115000"/>
              </a:lnSpc>
              <a:spcBef>
                <a:spcPts val="0"/>
              </a:spcBef>
              <a:spcAft>
                <a:spcPts val="0"/>
              </a:spcAft>
              <a:buNone/>
            </a:pPr>
            <a:r>
              <a:t/>
            </a:r>
            <a:endParaRPr sz="1200">
              <a:solidFill>
                <a:srgbClr val="999999"/>
              </a:solidFill>
            </a:endParaRPr>
          </a:p>
          <a:p>
            <a:pPr indent="0" lvl="0" marL="0" rtl="0" algn="l">
              <a:lnSpc>
                <a:spcPct val="115000"/>
              </a:lnSpc>
              <a:spcBef>
                <a:spcPts val="0"/>
              </a:spcBef>
              <a:spcAft>
                <a:spcPts val="0"/>
              </a:spcAft>
              <a:buNone/>
            </a:pPr>
            <a:r>
              <a:t/>
            </a:r>
            <a:endParaRPr sz="1200">
              <a:solidFill>
                <a:srgbClr val="999999"/>
              </a:solidFill>
            </a:endParaRPr>
          </a:p>
          <a:p>
            <a:pPr indent="-304800" lvl="0" marL="457200" rtl="0" algn="l">
              <a:lnSpc>
                <a:spcPct val="115000"/>
              </a:lnSpc>
              <a:spcBef>
                <a:spcPts val="0"/>
              </a:spcBef>
              <a:spcAft>
                <a:spcPts val="0"/>
              </a:spcAft>
              <a:buClr>
                <a:srgbClr val="999999"/>
              </a:buClr>
              <a:buSzPts val="1200"/>
              <a:buChar char="●"/>
            </a:pPr>
            <a:r>
              <a:rPr lang="en" sz="1200">
                <a:solidFill>
                  <a:srgbClr val="999999"/>
                </a:solidFill>
              </a:rPr>
              <a:t>Current diagnostic methods are invasive- Serum biomarkers lack sensitivity and specificity, leading practitioners to use invasive liver biopsies to procure a diagnosis</a:t>
            </a:r>
            <a:endParaRPr sz="1200">
              <a:solidFill>
                <a:srgbClr val="999999"/>
              </a:solidFill>
            </a:endParaRPr>
          </a:p>
          <a:p>
            <a:pPr indent="-304800" lvl="0" marL="457200" rtl="0" algn="l">
              <a:lnSpc>
                <a:spcPct val="115000"/>
              </a:lnSpc>
              <a:spcBef>
                <a:spcPts val="0"/>
              </a:spcBef>
              <a:spcAft>
                <a:spcPts val="0"/>
              </a:spcAft>
              <a:buClr>
                <a:srgbClr val="999999"/>
              </a:buClr>
              <a:buSzPts val="1200"/>
              <a:buChar char="●"/>
            </a:pPr>
            <a:r>
              <a:rPr lang="en" sz="1200">
                <a:solidFill>
                  <a:srgbClr val="999999"/>
                </a:solidFill>
              </a:rPr>
              <a:t>Treatment options are also limited, often requiring a lifetime of nonspecific immunosuppression</a:t>
            </a:r>
            <a:endParaRPr sz="1200">
              <a:solidFill>
                <a:srgbClr val="999999"/>
              </a:solidFill>
            </a:endParaRPr>
          </a:p>
          <a:p>
            <a:pPr indent="-304800" lvl="0" marL="457200" rtl="0" algn="l">
              <a:lnSpc>
                <a:spcPct val="115000"/>
              </a:lnSpc>
              <a:spcBef>
                <a:spcPts val="0"/>
              </a:spcBef>
              <a:spcAft>
                <a:spcPts val="0"/>
              </a:spcAft>
              <a:buClr>
                <a:srgbClr val="999999"/>
              </a:buClr>
              <a:buSzPts val="1200"/>
              <a:buChar char="●"/>
            </a:pPr>
            <a:r>
              <a:rPr lang="en" sz="1200">
                <a:solidFill>
                  <a:srgbClr val="999999"/>
                </a:solidFill>
              </a:rPr>
              <a:t>Currently, a lot remains unknown about the pathology of AIH, so if </a:t>
            </a:r>
            <a:r>
              <a:rPr lang="en" sz="1200">
                <a:solidFill>
                  <a:srgbClr val="999999"/>
                </a:solidFill>
              </a:rPr>
              <a:t>we can understand AIH better, we can develop better diagnostic methods.</a:t>
            </a:r>
            <a:endParaRPr sz="1200">
              <a:solidFill>
                <a:srgbClr val="999999"/>
              </a:solidFill>
            </a:endParaRPr>
          </a:p>
          <a:p>
            <a:pPr indent="0" lvl="0" marL="0" rtl="0" algn="l">
              <a:spcBef>
                <a:spcPts val="0"/>
              </a:spcBef>
              <a:spcAft>
                <a:spcPts val="0"/>
              </a:spcAft>
              <a:buNone/>
            </a:pPr>
            <a:r>
              <a:t/>
            </a:r>
            <a:endParaRPr sz="1200">
              <a:solidFill>
                <a:srgbClr val="999999"/>
              </a:solidFill>
            </a:endParaRPr>
          </a:p>
          <a:p>
            <a:pPr indent="0" lvl="0" marL="0" rtl="0" algn="l">
              <a:lnSpc>
                <a:spcPct val="115000"/>
              </a:lnSpc>
              <a:spcBef>
                <a:spcPts val="0"/>
              </a:spcBef>
              <a:spcAft>
                <a:spcPts val="0"/>
              </a:spcAft>
              <a:buNone/>
            </a:pPr>
            <a:r>
              <a:rPr lang="en" sz="1200">
                <a:solidFill>
                  <a:srgbClr val="999999"/>
                </a:solidFill>
              </a:rPr>
              <a:t>AIH is likely caused by a combination of genetic risk factors and environmental triggers. Various medications (nitrofurantoin and minocycline, among others) and some viruses (Epstein-Barr virus, cytomegalovirus, herpes, hepatitis A, B, and C, and parvovirus B19) have been associated with AIH. Other environmental factors have also been considered, such as significant stress and chemical exposures</a:t>
            </a:r>
            <a:endParaRPr sz="1200">
              <a:solidFill>
                <a:srgbClr val="999999"/>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8641045b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d8641045b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Here is a snapshot of what a single core from the TMA looks like, this core is from a 59 yo male.</a:t>
            </a:r>
            <a:endParaRPr/>
          </a:p>
          <a:p>
            <a:pPr indent="-298450" lvl="0" marL="457200" rtl="0" algn="l">
              <a:spcBef>
                <a:spcPts val="0"/>
              </a:spcBef>
              <a:spcAft>
                <a:spcPts val="0"/>
              </a:spcAft>
              <a:buSzPts val="1100"/>
              <a:buChar char="●"/>
            </a:pPr>
            <a:r>
              <a:rPr lang="en"/>
              <a:t>On this core, I have plotted two hepatocyte zonation genes from our panel, with Cyp1a2 in purple and Hal in green. Cyp1a2 is primarily expressed in pericentral hepatocytes and Hal in periportal hepatocytes, giving us a preliminary glance at zonation within this tissue sample.</a:t>
            </a:r>
            <a:endParaRPr/>
          </a:p>
          <a:p>
            <a:pPr indent="-298450" lvl="0" marL="457200" rtl="0" algn="l">
              <a:spcBef>
                <a:spcPts val="0"/>
              </a:spcBef>
              <a:spcAft>
                <a:spcPts val="0"/>
              </a:spcAft>
              <a:buSzPts val="1100"/>
              <a:buChar char="●"/>
            </a:pPr>
            <a:r>
              <a:rPr lang="en"/>
              <a:t>[CLICK] Here is a zoomed-in region of this core, in which you can see individual cells. The different cell boundary colors represent different cell segmentation techniques used to define each cell. [CLICK] These cells are segmented through Xenium’s technology using boundary antibody staining, interior protein staining, and nucleus expansion from DAPI staining. </a:t>
            </a:r>
            <a:endParaRPr/>
          </a:p>
          <a:p>
            <a:pPr indent="-298450" lvl="0" marL="457200" rtl="0" algn="l">
              <a:spcBef>
                <a:spcPts val="0"/>
              </a:spcBef>
              <a:spcAft>
                <a:spcPts val="0"/>
              </a:spcAft>
              <a:buClr>
                <a:schemeClr val="dk1"/>
              </a:buClr>
              <a:buSzPts val="1100"/>
              <a:buChar char="●"/>
            </a:pPr>
            <a:r>
              <a:rPr lang="en">
                <a:solidFill>
                  <a:schemeClr val="dk1"/>
                </a:solidFill>
              </a:rPr>
              <a:t>You can also see dots scattered across this region. These dots represent individual transcripts which come from genes defined in our custom panel.</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051bfd8b4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e051bfd8b4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In our spatial dataset, we find the same upregulation of CD40/CD40LG in the B and CD4+T cells of diseased liver, and the upregulation of AFF3 in the Periportal hepatocytes of diseased livers, validating our single-nuclei findings</a:t>
            </a:r>
            <a:endParaRPr sz="8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e051bfd8b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e051bfd8b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We can identify lobular regions of the liver shown in this core. We find that the portal region proportion is increased in our diseased livers, emphasizing that the portal region seems to be the most affected by AIH.</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Within the portal region, we can also calculate the proportions of each cell type. Lymphocyte and Myeloid proportion increases in the portal region of diseased livers, corroborating our previous findings that these cell types are implicated in AIH pathology.</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However, the distribution of patients is not equal, even among the diseased livers, with some having smaller proportions of portal region and less lymphocytes/myeloid cells. So, we sought to figure out what spatial features differentiate these patients, and can we correlate those spatial differences to patient condition to identify clinically relevant patient groups?</a:t>
            </a:r>
            <a:endParaRPr b="1"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051bfd8b4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e051bfd8b4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b="1" lang="en" sz="1200"/>
              <a:t>These patient groups also roughly correspond with clinical metadata. </a:t>
            </a:r>
            <a:endParaRPr b="1" sz="1200"/>
          </a:p>
          <a:p>
            <a:pPr indent="-304800" lvl="0" marL="457200" rtl="0" algn="l">
              <a:spcBef>
                <a:spcPts val="0"/>
              </a:spcBef>
              <a:spcAft>
                <a:spcPts val="0"/>
              </a:spcAft>
              <a:buSzPts val="1200"/>
              <a:buChar char="●"/>
            </a:pPr>
            <a:r>
              <a:rPr b="1" lang="en" sz="1200"/>
              <a:t>The Least injured group has the lowest fibrosis stage and the fibrotic group has the highest fibrosis stage.</a:t>
            </a:r>
            <a:endParaRPr b="1" sz="1200"/>
          </a:p>
          <a:p>
            <a:pPr indent="-304800" lvl="0" marL="457200" rtl="0" algn="l">
              <a:spcBef>
                <a:spcPts val="0"/>
              </a:spcBef>
              <a:spcAft>
                <a:spcPts val="0"/>
              </a:spcAft>
              <a:buSzPts val="1200"/>
              <a:buChar char="●"/>
            </a:pPr>
            <a:r>
              <a:rPr b="1" lang="en" sz="1200"/>
              <a:t>The AIH dominant group has the highest inflammation grade and </a:t>
            </a:r>
            <a:r>
              <a:rPr b="1" lang="en" sz="1200">
                <a:solidFill>
                  <a:schemeClr val="dk1"/>
                </a:solidFill>
              </a:rPr>
              <a:t>the highest ALT serum marker values.</a:t>
            </a:r>
            <a:endParaRPr b="1"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07024b81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07024b81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In our spatial dataset, we find the same upregulation of CD40/CD40LG in the B cells and CD4+T cells of AIH patient livers</a:t>
            </a:r>
            <a:endParaRPr b="1"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We also see the same upregulation of AFF3 in the Periportal hepatocytes of AIH livers, validating our single-nuclei findings.</a:t>
            </a:r>
            <a:endParaRPr b="1" sz="120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Instrument Sans"/>
              <a:buNone/>
              <a:defRPr>
                <a:latin typeface="Instrument Sans"/>
                <a:ea typeface="Instrument Sans"/>
                <a:cs typeface="Instrument Sans"/>
                <a:sym typeface="Instrument San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Instrument Sans"/>
              <a:buChar char="●"/>
              <a:defRPr>
                <a:latin typeface="Instrument Sans"/>
                <a:ea typeface="Instrument Sans"/>
                <a:cs typeface="Instrument Sans"/>
                <a:sym typeface="Instrument Sans"/>
              </a:defRPr>
            </a:lvl1pPr>
            <a:lvl2pPr indent="-317500" lvl="1" marL="914400">
              <a:spcBef>
                <a:spcPts val="0"/>
              </a:spcBef>
              <a:spcAft>
                <a:spcPts val="0"/>
              </a:spcAft>
              <a:buSzPts val="1400"/>
              <a:buFont typeface="Instrument Sans"/>
              <a:buChar char="○"/>
              <a:defRPr>
                <a:latin typeface="Instrument Sans"/>
                <a:ea typeface="Instrument Sans"/>
                <a:cs typeface="Instrument Sans"/>
                <a:sym typeface="Instrument Sans"/>
              </a:defRPr>
            </a:lvl2pPr>
            <a:lvl3pPr indent="-317500" lvl="2" marL="1371600">
              <a:spcBef>
                <a:spcPts val="0"/>
              </a:spcBef>
              <a:spcAft>
                <a:spcPts val="0"/>
              </a:spcAft>
              <a:buSzPts val="1400"/>
              <a:buFont typeface="Instrument Sans"/>
              <a:buChar char="■"/>
              <a:defRPr>
                <a:latin typeface="Instrument Sans"/>
                <a:ea typeface="Instrument Sans"/>
                <a:cs typeface="Instrument Sans"/>
                <a:sym typeface="Instrument Sans"/>
              </a:defRPr>
            </a:lvl3pPr>
            <a:lvl4pPr indent="-317500" lvl="3" marL="1828800">
              <a:spcBef>
                <a:spcPts val="0"/>
              </a:spcBef>
              <a:spcAft>
                <a:spcPts val="0"/>
              </a:spcAft>
              <a:buSzPts val="1400"/>
              <a:buFont typeface="Instrument Sans"/>
              <a:buChar char="●"/>
              <a:defRPr>
                <a:latin typeface="Instrument Sans"/>
                <a:ea typeface="Instrument Sans"/>
                <a:cs typeface="Instrument Sans"/>
                <a:sym typeface="Instrument Sans"/>
              </a:defRPr>
            </a:lvl4pPr>
            <a:lvl5pPr indent="-317500" lvl="4" marL="2286000">
              <a:spcBef>
                <a:spcPts val="0"/>
              </a:spcBef>
              <a:spcAft>
                <a:spcPts val="0"/>
              </a:spcAft>
              <a:buSzPts val="1400"/>
              <a:buFont typeface="Instrument Sans"/>
              <a:buChar char="○"/>
              <a:defRPr>
                <a:latin typeface="Instrument Sans"/>
                <a:ea typeface="Instrument Sans"/>
                <a:cs typeface="Instrument Sans"/>
                <a:sym typeface="Instrument Sans"/>
              </a:defRPr>
            </a:lvl5pPr>
            <a:lvl6pPr indent="-317500" lvl="5" marL="2743200">
              <a:spcBef>
                <a:spcPts val="0"/>
              </a:spcBef>
              <a:spcAft>
                <a:spcPts val="0"/>
              </a:spcAft>
              <a:buSzPts val="1400"/>
              <a:buFont typeface="Instrument Sans"/>
              <a:buChar char="■"/>
              <a:defRPr>
                <a:latin typeface="Instrument Sans"/>
                <a:ea typeface="Instrument Sans"/>
                <a:cs typeface="Instrument Sans"/>
                <a:sym typeface="Instrument Sans"/>
              </a:defRPr>
            </a:lvl6pPr>
            <a:lvl7pPr indent="-317500" lvl="6" marL="3200400">
              <a:spcBef>
                <a:spcPts val="0"/>
              </a:spcBef>
              <a:spcAft>
                <a:spcPts val="0"/>
              </a:spcAft>
              <a:buSzPts val="1400"/>
              <a:buFont typeface="Instrument Sans"/>
              <a:buChar char="●"/>
              <a:defRPr>
                <a:latin typeface="Instrument Sans"/>
                <a:ea typeface="Instrument Sans"/>
                <a:cs typeface="Instrument Sans"/>
                <a:sym typeface="Instrument Sans"/>
              </a:defRPr>
            </a:lvl7pPr>
            <a:lvl8pPr indent="-317500" lvl="7" marL="3657600">
              <a:spcBef>
                <a:spcPts val="0"/>
              </a:spcBef>
              <a:spcAft>
                <a:spcPts val="0"/>
              </a:spcAft>
              <a:buSzPts val="1400"/>
              <a:buFont typeface="Instrument Sans"/>
              <a:buChar char="○"/>
              <a:defRPr>
                <a:latin typeface="Instrument Sans"/>
                <a:ea typeface="Instrument Sans"/>
                <a:cs typeface="Instrument Sans"/>
                <a:sym typeface="Instrument Sans"/>
              </a:defRPr>
            </a:lvl8pPr>
            <a:lvl9pPr indent="-317500" lvl="8" marL="4114800">
              <a:spcBef>
                <a:spcPts val="0"/>
              </a:spcBef>
              <a:spcAft>
                <a:spcPts val="0"/>
              </a:spcAft>
              <a:buSzPts val="1400"/>
              <a:buFont typeface="Instrument Sans"/>
              <a:buChar char="■"/>
              <a:defRPr>
                <a:latin typeface="Instrument Sans"/>
                <a:ea typeface="Instrument Sans"/>
                <a:cs typeface="Instrument Sans"/>
                <a:sym typeface="Instrument Sans"/>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H">
  <p:cSld name="TITLE_AND_BODY_2_1_1_1_1_1_1_1_1_1_1">
    <p:spTree>
      <p:nvGrpSpPr>
        <p:cNvPr id="95" name="Shape 95"/>
        <p:cNvGrpSpPr/>
        <p:nvPr/>
      </p:nvGrpSpPr>
      <p:grpSpPr>
        <a:xfrm>
          <a:off x="0" y="0"/>
          <a:ext cx="0" cy="0"/>
          <a:chOff x="0" y="0"/>
          <a:chExt cx="0" cy="0"/>
        </a:xfrm>
      </p:grpSpPr>
      <p:sp>
        <p:nvSpPr>
          <p:cNvPr id="96" name="Google Shape;96;p25"/>
          <p:cNvSpPr/>
          <p:nvPr>
            <p:ph idx="2" type="pic"/>
          </p:nvPr>
        </p:nvSpPr>
        <p:spPr>
          <a:xfrm>
            <a:off x="5545938" y="1519300"/>
            <a:ext cx="3090600" cy="3090600"/>
          </a:xfrm>
          <a:prstGeom prst="rect">
            <a:avLst/>
          </a:prstGeom>
          <a:noFill/>
          <a:ln>
            <a:noFill/>
          </a:ln>
        </p:spPr>
      </p:sp>
      <p:sp>
        <p:nvSpPr>
          <p:cNvPr id="97" name="Google Shape;97;p25"/>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25"/>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1pPr>
            <a:lvl2pPr lvl="1">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2pPr>
            <a:lvl3pPr lvl="2">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3pPr>
            <a:lvl4pPr lvl="3">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4pPr>
            <a:lvl5pPr lvl="4">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5pPr>
            <a:lvl6pPr lvl="5">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6pPr>
            <a:lvl7pPr lvl="6">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7pPr>
            <a:lvl8pPr lvl="7">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8pPr>
            <a:lvl9pPr lvl="8">
              <a:spcBef>
                <a:spcPts val="0"/>
              </a:spcBef>
              <a:spcAft>
                <a:spcPts val="0"/>
              </a:spcAft>
              <a:buClr>
                <a:schemeClr val="dk1"/>
              </a:buClr>
              <a:buSzPts val="2800"/>
              <a:buFont typeface="Instrument Sans"/>
              <a:buNone/>
              <a:defRPr sz="2800">
                <a:solidFill>
                  <a:schemeClr val="dk1"/>
                </a:solidFill>
                <a:latin typeface="Instrument Sans"/>
                <a:ea typeface="Instrument Sans"/>
                <a:cs typeface="Instrument Sans"/>
                <a:sym typeface="Instrument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Instrument Sans"/>
              <a:buChar char="●"/>
              <a:defRPr sz="1800">
                <a:solidFill>
                  <a:schemeClr val="dk2"/>
                </a:solidFill>
                <a:latin typeface="Instrument Sans"/>
                <a:ea typeface="Instrument Sans"/>
                <a:cs typeface="Instrument Sans"/>
                <a:sym typeface="Instrument Sans"/>
              </a:defRPr>
            </a:lvl1pPr>
            <a:lvl2pPr indent="-317500" lvl="1" marL="9144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2pPr>
            <a:lvl3pPr indent="-317500" lvl="2" marL="13716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3pPr>
            <a:lvl4pPr indent="-317500" lvl="3" marL="18288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4pPr>
            <a:lvl5pPr indent="-317500" lvl="4" marL="22860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5pPr>
            <a:lvl6pPr indent="-317500" lvl="5" marL="27432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6pPr>
            <a:lvl7pPr indent="-317500" lvl="6" marL="32004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7pPr>
            <a:lvl8pPr indent="-317500" lvl="7" marL="36576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8pPr>
            <a:lvl9pPr indent="-317500" lvl="8" marL="4114800">
              <a:lnSpc>
                <a:spcPct val="115000"/>
              </a:lnSpc>
              <a:spcBef>
                <a:spcPts val="0"/>
              </a:spcBef>
              <a:spcAft>
                <a:spcPts val="0"/>
              </a:spcAft>
              <a:buClr>
                <a:schemeClr val="dk2"/>
              </a:buClr>
              <a:buSzPts val="1400"/>
              <a:buFont typeface="Instrument Sans"/>
              <a:buChar char="■"/>
              <a:defRPr>
                <a:solidFill>
                  <a:schemeClr val="dk2"/>
                </a:solidFill>
                <a:latin typeface="Instrument Sans"/>
                <a:ea typeface="Instrument Sans"/>
                <a:cs typeface="Instrument Sans"/>
                <a:sym typeface="Instrument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ato"/>
              <a:buNone/>
              <a:defRPr sz="2800">
                <a:solidFill>
                  <a:schemeClr val="dk1"/>
                </a:solidFill>
                <a:latin typeface="Lato"/>
                <a:ea typeface="Lato"/>
                <a:cs typeface="Lato"/>
                <a:sym typeface="La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47.png"/><Relationship Id="rId6"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5.png"/><Relationship Id="rId4" Type="http://schemas.openxmlformats.org/officeDocument/2006/relationships/image" Target="../media/image24.png"/><Relationship Id="rId5" Type="http://schemas.openxmlformats.org/officeDocument/2006/relationships/image" Target="../media/image2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9.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25.png"/><Relationship Id="rId8"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40.png"/><Relationship Id="rId6"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6"/>
          <p:cNvSpPr txBox="1"/>
          <p:nvPr>
            <p:ph type="ctrTitle"/>
          </p:nvPr>
        </p:nvSpPr>
        <p:spPr>
          <a:xfrm>
            <a:off x="344250" y="627300"/>
            <a:ext cx="8455500" cy="1549500"/>
          </a:xfrm>
          <a:prstGeom prst="rect">
            <a:avLst/>
          </a:prstGeom>
          <a:solidFill>
            <a:schemeClr val="accent5"/>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300">
                <a:latin typeface="Instrument Sans"/>
                <a:ea typeface="Instrument Sans"/>
                <a:cs typeface="Instrument Sans"/>
                <a:sym typeface="Instrument Sans"/>
              </a:rPr>
              <a:t>Characterizing Autoimmune hepatitis (AIH) using complementary single-nuclei and spatial transcriptomics techniques</a:t>
            </a:r>
            <a:endParaRPr b="1" sz="2300">
              <a:latin typeface="Instrument Sans"/>
              <a:ea typeface="Instrument Sans"/>
              <a:cs typeface="Instrument Sans"/>
              <a:sym typeface="Instrument Sans"/>
            </a:endParaRPr>
          </a:p>
        </p:txBody>
      </p:sp>
      <p:sp>
        <p:nvSpPr>
          <p:cNvPr id="104" name="Google Shape;104;p26"/>
          <p:cNvSpPr txBox="1"/>
          <p:nvPr>
            <p:ph idx="1" type="subTitle"/>
          </p:nvPr>
        </p:nvSpPr>
        <p:spPr>
          <a:xfrm>
            <a:off x="344250" y="2274750"/>
            <a:ext cx="8455500" cy="5940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None/>
            </a:pPr>
            <a:r>
              <a:rPr b="1" lang="en" sz="1400"/>
              <a:t>Nikita Sajai</a:t>
            </a:r>
            <a:endParaRPr b="1" sz="1400"/>
          </a:p>
          <a:p>
            <a:pPr indent="0" lvl="0" marL="0" rtl="0" algn="ctr">
              <a:spcBef>
                <a:spcPts val="0"/>
              </a:spcBef>
              <a:spcAft>
                <a:spcPts val="0"/>
              </a:spcAft>
              <a:buNone/>
            </a:pPr>
            <a:r>
              <a:rPr lang="en" sz="1400"/>
              <a:t>Data Scientist in Bruce Wang Lab and UCSF Liver Center</a:t>
            </a:r>
            <a:endParaRPr sz="1400"/>
          </a:p>
        </p:txBody>
      </p:sp>
      <p:pic>
        <p:nvPicPr>
          <p:cNvPr id="105" name="Google Shape;105;p26"/>
          <p:cNvPicPr preferRelativeResize="0"/>
          <p:nvPr/>
        </p:nvPicPr>
        <p:blipFill rotWithShape="1">
          <a:blip r:embed="rId3">
            <a:alphaModFix/>
          </a:blip>
          <a:srcRect b="0" l="0" r="0" t="59876"/>
          <a:stretch/>
        </p:blipFill>
        <p:spPr>
          <a:xfrm>
            <a:off x="573388" y="3449025"/>
            <a:ext cx="2899045" cy="1549500"/>
          </a:xfrm>
          <a:prstGeom prst="rect">
            <a:avLst/>
          </a:prstGeom>
          <a:noFill/>
          <a:ln>
            <a:noFill/>
          </a:ln>
        </p:spPr>
      </p:pic>
      <p:pic>
        <p:nvPicPr>
          <p:cNvPr id="106" name="Google Shape;106;p26"/>
          <p:cNvPicPr preferRelativeResize="0"/>
          <p:nvPr/>
        </p:nvPicPr>
        <p:blipFill rotWithShape="1">
          <a:blip r:embed="rId4">
            <a:alphaModFix/>
          </a:blip>
          <a:srcRect b="0" l="0" r="24727" t="9469"/>
          <a:stretch/>
        </p:blipFill>
        <p:spPr>
          <a:xfrm>
            <a:off x="3624763" y="3265000"/>
            <a:ext cx="2449274" cy="1819849"/>
          </a:xfrm>
          <a:prstGeom prst="rect">
            <a:avLst/>
          </a:prstGeom>
          <a:noFill/>
          <a:ln>
            <a:noFill/>
          </a:ln>
        </p:spPr>
      </p:pic>
      <p:pic>
        <p:nvPicPr>
          <p:cNvPr id="107" name="Google Shape;107;p26"/>
          <p:cNvPicPr preferRelativeResize="0"/>
          <p:nvPr/>
        </p:nvPicPr>
        <p:blipFill rotWithShape="1">
          <a:blip r:embed="rId5">
            <a:alphaModFix/>
          </a:blip>
          <a:srcRect b="0" l="0" r="22863" t="9025"/>
          <a:stretch/>
        </p:blipFill>
        <p:spPr>
          <a:xfrm>
            <a:off x="6409238" y="3400163"/>
            <a:ext cx="2161374" cy="1549524"/>
          </a:xfrm>
          <a:prstGeom prst="rect">
            <a:avLst/>
          </a:prstGeom>
          <a:noFill/>
          <a:ln>
            <a:noFill/>
          </a:ln>
        </p:spPr>
      </p:pic>
      <p:sp>
        <p:nvSpPr>
          <p:cNvPr id="108" name="Google Shape;108;p26"/>
          <p:cNvSpPr txBox="1"/>
          <p:nvPr/>
        </p:nvSpPr>
        <p:spPr>
          <a:xfrm>
            <a:off x="1013163" y="2966700"/>
            <a:ext cx="12492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B7B7B7"/>
                </a:solidFill>
                <a:latin typeface="Instrument Sans"/>
                <a:ea typeface="Instrument Sans"/>
                <a:cs typeface="Instrument Sans"/>
                <a:sym typeface="Instrument Sans"/>
              </a:rPr>
              <a:t>AIH Liver</a:t>
            </a:r>
            <a:endParaRPr sz="1300">
              <a:solidFill>
                <a:srgbClr val="B7B7B7"/>
              </a:solidFill>
              <a:latin typeface="Instrument Sans"/>
              <a:ea typeface="Instrument Sans"/>
              <a:cs typeface="Instrument Sans"/>
              <a:sym typeface="Instrument Sans"/>
            </a:endParaRPr>
          </a:p>
        </p:txBody>
      </p:sp>
      <p:sp>
        <p:nvSpPr>
          <p:cNvPr id="109" name="Google Shape;109;p26"/>
          <p:cNvSpPr txBox="1"/>
          <p:nvPr/>
        </p:nvSpPr>
        <p:spPr>
          <a:xfrm>
            <a:off x="3734461" y="2966702"/>
            <a:ext cx="22299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CCCCCC"/>
                </a:solidFill>
                <a:latin typeface="Instrument Sans"/>
                <a:ea typeface="Instrument Sans"/>
                <a:cs typeface="Instrument Sans"/>
                <a:sym typeface="Instrument Sans"/>
              </a:rPr>
              <a:t>sn-RNA seq</a:t>
            </a:r>
            <a:endParaRPr sz="1300">
              <a:solidFill>
                <a:srgbClr val="CCCCCC"/>
              </a:solidFill>
              <a:latin typeface="Instrument Sans"/>
              <a:ea typeface="Instrument Sans"/>
              <a:cs typeface="Instrument Sans"/>
              <a:sym typeface="Instrument Sans"/>
            </a:endParaRPr>
          </a:p>
        </p:txBody>
      </p:sp>
      <p:sp>
        <p:nvSpPr>
          <p:cNvPr id="110" name="Google Shape;110;p26"/>
          <p:cNvSpPr txBox="1"/>
          <p:nvPr/>
        </p:nvSpPr>
        <p:spPr>
          <a:xfrm>
            <a:off x="6374986" y="2966688"/>
            <a:ext cx="2229900" cy="38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CCCCCC"/>
                </a:solidFill>
                <a:latin typeface="Instrument Sans"/>
                <a:ea typeface="Instrument Sans"/>
                <a:cs typeface="Instrument Sans"/>
                <a:sym typeface="Instrument Sans"/>
              </a:rPr>
              <a:t>Spatial transcriptomics</a:t>
            </a:r>
            <a:endParaRPr sz="1300">
              <a:solidFill>
                <a:srgbClr val="CCCCCC"/>
              </a:solidFill>
              <a:latin typeface="Instrument Sans"/>
              <a:ea typeface="Instrument Sans"/>
              <a:cs typeface="Instrument Sans"/>
              <a:sym typeface="Instrumen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ph idx="1" type="body"/>
          </p:nvPr>
        </p:nvSpPr>
        <p:spPr>
          <a:xfrm>
            <a:off x="370500" y="4479250"/>
            <a:ext cx="8520600" cy="411600"/>
          </a:xfrm>
          <a:prstGeom prst="rect">
            <a:avLst/>
          </a:prstGeom>
          <a:solidFill>
            <a:srgbClr val="FFF2CC"/>
          </a:solidFill>
        </p:spPr>
        <p:txBody>
          <a:bodyPr anchorCtr="0" anchor="ctr" bIns="91425" lIns="91425" spcFirstLastPara="1" rIns="91425" wrap="square" tIns="91425">
            <a:normAutofit fontScale="92500"/>
          </a:bodyPr>
          <a:lstStyle/>
          <a:p>
            <a:pPr indent="0" lvl="0" marL="0" rtl="0" algn="ctr">
              <a:spcBef>
                <a:spcPts val="0"/>
              </a:spcBef>
              <a:spcAft>
                <a:spcPts val="1200"/>
              </a:spcAft>
              <a:buNone/>
            </a:pPr>
            <a:r>
              <a:rPr lang="en" sz="1600"/>
              <a:t>Immune-mediated liver disease caused by immune cells attacking hepatocytes</a:t>
            </a:r>
            <a:endParaRPr sz="1600"/>
          </a:p>
        </p:txBody>
      </p:sp>
      <p:pic>
        <p:nvPicPr>
          <p:cNvPr id="116" name="Google Shape;116;p27"/>
          <p:cNvPicPr preferRelativeResize="0"/>
          <p:nvPr/>
        </p:nvPicPr>
        <p:blipFill>
          <a:blip r:embed="rId3">
            <a:alphaModFix/>
          </a:blip>
          <a:stretch>
            <a:fillRect/>
          </a:stretch>
        </p:blipFill>
        <p:spPr>
          <a:xfrm>
            <a:off x="449800" y="993392"/>
            <a:ext cx="2369793" cy="3156726"/>
          </a:xfrm>
          <a:prstGeom prst="rect">
            <a:avLst/>
          </a:prstGeom>
          <a:noFill/>
          <a:ln>
            <a:noFill/>
          </a:ln>
        </p:spPr>
      </p:pic>
      <p:sp>
        <p:nvSpPr>
          <p:cNvPr id="117" name="Google Shape;117;p27"/>
          <p:cNvSpPr txBox="1"/>
          <p:nvPr/>
        </p:nvSpPr>
        <p:spPr>
          <a:xfrm>
            <a:off x="370500" y="4194777"/>
            <a:ext cx="2528400" cy="188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rgbClr val="CCCCCC"/>
                </a:solidFill>
                <a:latin typeface="Instrument Sans"/>
                <a:ea typeface="Instrument Sans"/>
                <a:cs typeface="Instrument Sans"/>
                <a:sym typeface="Instrument Sans"/>
              </a:rPr>
              <a:t>Autoimmune Hepatitis Association</a:t>
            </a:r>
            <a:endParaRPr sz="600">
              <a:solidFill>
                <a:srgbClr val="CCCCCC"/>
              </a:solidFill>
              <a:latin typeface="Instrument Sans"/>
              <a:ea typeface="Instrument Sans"/>
              <a:cs typeface="Instrument Sans"/>
              <a:sym typeface="Instrument Sans"/>
            </a:endParaRPr>
          </a:p>
        </p:txBody>
      </p:sp>
      <p:sp>
        <p:nvSpPr>
          <p:cNvPr id="118" name="Google Shape;118;p27"/>
          <p:cNvSpPr txBox="1"/>
          <p:nvPr>
            <p:ph type="title"/>
          </p:nvPr>
        </p:nvSpPr>
        <p:spPr>
          <a:xfrm>
            <a:off x="311700" y="359877"/>
            <a:ext cx="8520600" cy="4866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020"/>
              <a:t>Auto-Immune Hepatitis (AIH)</a:t>
            </a:r>
            <a:endParaRPr b="1" sz="2020">
              <a:latin typeface="Instrument Sans"/>
              <a:ea typeface="Instrument Sans"/>
              <a:cs typeface="Instrument Sans"/>
              <a:sym typeface="Instrument Sans"/>
            </a:endParaRPr>
          </a:p>
        </p:txBody>
      </p:sp>
      <p:pic>
        <p:nvPicPr>
          <p:cNvPr id="119" name="Google Shape;119;p27"/>
          <p:cNvPicPr preferRelativeResize="0"/>
          <p:nvPr/>
        </p:nvPicPr>
        <p:blipFill rotWithShape="1">
          <a:blip r:embed="rId4">
            <a:alphaModFix/>
          </a:blip>
          <a:srcRect b="0" l="0" r="49213" t="0"/>
          <a:stretch/>
        </p:blipFill>
        <p:spPr>
          <a:xfrm>
            <a:off x="5802600" y="993375"/>
            <a:ext cx="2528400" cy="1490450"/>
          </a:xfrm>
          <a:prstGeom prst="rect">
            <a:avLst/>
          </a:prstGeom>
          <a:noFill/>
          <a:ln>
            <a:noFill/>
          </a:ln>
        </p:spPr>
      </p:pic>
      <p:sp>
        <p:nvSpPr>
          <p:cNvPr id="120" name="Google Shape;120;p27"/>
          <p:cNvSpPr txBox="1"/>
          <p:nvPr>
            <p:ph type="title"/>
          </p:nvPr>
        </p:nvSpPr>
        <p:spPr>
          <a:xfrm>
            <a:off x="3231628" y="1352950"/>
            <a:ext cx="2204400" cy="771300"/>
          </a:xfrm>
          <a:prstGeom prst="rect">
            <a:avLst/>
          </a:prstGeom>
          <a:solidFill>
            <a:srgbClr val="C9DAF8"/>
          </a:solidFill>
        </p:spPr>
        <p:txBody>
          <a:bodyPr anchorCtr="0" anchor="ctr" bIns="91425" lIns="91425" spcFirstLastPara="1" rIns="91425" wrap="square" tIns="91425">
            <a:normAutofit/>
          </a:bodyPr>
          <a:lstStyle/>
          <a:p>
            <a:pPr indent="0" lvl="0" marL="0" rtl="0" algn="ctr">
              <a:spcBef>
                <a:spcPts val="0"/>
              </a:spcBef>
              <a:spcAft>
                <a:spcPts val="0"/>
              </a:spcAft>
              <a:buNone/>
            </a:pPr>
            <a:r>
              <a:rPr b="1" lang="en" sz="1500"/>
              <a:t>Rising incidence and prevalence</a:t>
            </a:r>
            <a:endParaRPr b="1" sz="1500"/>
          </a:p>
        </p:txBody>
      </p:sp>
      <p:pic>
        <p:nvPicPr>
          <p:cNvPr id="121" name="Google Shape;121;p27" title="Points scored"/>
          <p:cNvPicPr preferRelativeResize="0"/>
          <p:nvPr/>
        </p:nvPicPr>
        <p:blipFill>
          <a:blip r:embed="rId5">
            <a:alphaModFix/>
          </a:blip>
          <a:stretch>
            <a:fillRect/>
          </a:stretch>
        </p:blipFill>
        <p:spPr>
          <a:xfrm>
            <a:off x="5733334" y="2738400"/>
            <a:ext cx="2666916" cy="1649050"/>
          </a:xfrm>
          <a:prstGeom prst="rect">
            <a:avLst/>
          </a:prstGeom>
          <a:noFill/>
          <a:ln>
            <a:noFill/>
          </a:ln>
        </p:spPr>
      </p:pic>
      <p:sp>
        <p:nvSpPr>
          <p:cNvPr id="122" name="Google Shape;122;p27"/>
          <p:cNvSpPr txBox="1"/>
          <p:nvPr/>
        </p:nvSpPr>
        <p:spPr>
          <a:xfrm>
            <a:off x="3231628" y="3124325"/>
            <a:ext cx="2204400" cy="877200"/>
          </a:xfrm>
          <a:prstGeom prst="rect">
            <a:avLst/>
          </a:prstGeom>
          <a:solidFill>
            <a:srgbClr val="F4CCCC"/>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1500">
                <a:solidFill>
                  <a:schemeClr val="dk1"/>
                </a:solidFill>
                <a:latin typeface="Instrument Sans"/>
                <a:ea typeface="Instrument Sans"/>
                <a:cs typeface="Instrument Sans"/>
                <a:sym typeface="Instrument Sans"/>
              </a:rPr>
              <a:t>Disproportionately affecting women and people of color</a:t>
            </a:r>
            <a:endParaRPr b="1" sz="1500">
              <a:solidFill>
                <a:schemeClr val="dk1"/>
              </a:solidFill>
              <a:latin typeface="Instrument Sans"/>
              <a:ea typeface="Instrument Sans"/>
              <a:cs typeface="Instrument Sans"/>
              <a:sym typeface="Instrument Sans"/>
            </a:endParaRPr>
          </a:p>
        </p:txBody>
      </p:sp>
      <p:sp>
        <p:nvSpPr>
          <p:cNvPr id="123" name="Google Shape;123;p27"/>
          <p:cNvSpPr txBox="1"/>
          <p:nvPr/>
        </p:nvSpPr>
        <p:spPr>
          <a:xfrm>
            <a:off x="5891100" y="4104475"/>
            <a:ext cx="30000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600">
                <a:solidFill>
                  <a:srgbClr val="B7B7B7"/>
                </a:solidFill>
                <a:latin typeface="Instrument Sans"/>
                <a:ea typeface="Instrument Sans"/>
                <a:cs typeface="Instrument Sans"/>
                <a:sym typeface="Instrument Sans"/>
              </a:rPr>
              <a:t>[1] Yao et al., Hep Communications 2025</a:t>
            </a:r>
            <a:endParaRPr sz="600">
              <a:solidFill>
                <a:srgbClr val="B7B7B7"/>
              </a:solidFill>
              <a:latin typeface="Instrument Sans"/>
              <a:ea typeface="Instrument Sans"/>
              <a:cs typeface="Instrument Sans"/>
              <a:sym typeface="Instrument Sans"/>
            </a:endParaRPr>
          </a:p>
          <a:p>
            <a:pPr indent="0" lvl="0" marL="0" rtl="0" algn="r">
              <a:spcBef>
                <a:spcPts val="0"/>
              </a:spcBef>
              <a:spcAft>
                <a:spcPts val="0"/>
              </a:spcAft>
              <a:buNone/>
            </a:pPr>
            <a:r>
              <a:rPr lang="en" sz="600">
                <a:solidFill>
                  <a:srgbClr val="B7B7B7"/>
                </a:solidFill>
                <a:latin typeface="Instrument Sans"/>
                <a:ea typeface="Instrument Sans"/>
                <a:cs typeface="Instrument Sans"/>
                <a:sym typeface="Instrument Sans"/>
              </a:rPr>
              <a:t>[2] J. Wen et al. AJG 2018</a:t>
            </a:r>
            <a:endParaRPr sz="600">
              <a:solidFill>
                <a:srgbClr val="B7B7B7"/>
              </a:solidFill>
              <a:latin typeface="Instrument Sans"/>
              <a:ea typeface="Instrument Sans"/>
              <a:cs typeface="Instrument Sans"/>
              <a:sym typeface="Instrument Sans"/>
            </a:endParaRPr>
          </a:p>
        </p:txBody>
      </p:sp>
      <p:sp>
        <p:nvSpPr>
          <p:cNvPr id="124" name="Google Shape;124;p27"/>
          <p:cNvSpPr txBox="1"/>
          <p:nvPr/>
        </p:nvSpPr>
        <p:spPr>
          <a:xfrm>
            <a:off x="366129" y="4481836"/>
            <a:ext cx="8520600" cy="523200"/>
          </a:xfrm>
          <a:prstGeom prst="rect">
            <a:avLst/>
          </a:prstGeom>
          <a:solidFill>
            <a:srgbClr val="F4CC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Instrument Sans"/>
                <a:ea typeface="Instrument Sans"/>
                <a:cs typeface="Instrument Sans"/>
                <a:sym typeface="Instrument Sans"/>
              </a:rPr>
              <a:t>Better understanding of AIH = Better diagnostic methods</a:t>
            </a:r>
            <a:endParaRPr b="1" sz="2200">
              <a:solidFill>
                <a:schemeClr val="dk1"/>
              </a:solidFill>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8"/>
          <p:cNvSpPr txBox="1"/>
          <p:nvPr>
            <p:ph type="title"/>
          </p:nvPr>
        </p:nvSpPr>
        <p:spPr>
          <a:xfrm>
            <a:off x="311700" y="504200"/>
            <a:ext cx="8520600" cy="5097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820"/>
              <a:t>Part 1: Single-nuclei RNA sequencing (snRNA-seq) of AIH patient liver tissue </a:t>
            </a:r>
            <a:endParaRPr b="1" sz="1820"/>
          </a:p>
        </p:txBody>
      </p:sp>
      <p:sp>
        <p:nvSpPr>
          <p:cNvPr id="130" name="Google Shape;130;p28"/>
          <p:cNvSpPr txBox="1"/>
          <p:nvPr/>
        </p:nvSpPr>
        <p:spPr>
          <a:xfrm>
            <a:off x="5355000" y="1731725"/>
            <a:ext cx="3477300" cy="1416000"/>
          </a:xfrm>
          <a:prstGeom prst="rect">
            <a:avLst/>
          </a:prstGeom>
          <a:solidFill>
            <a:srgbClr val="FE7E7E">
              <a:alpha val="19620"/>
            </a:srgbClr>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D62727"/>
                </a:solidFill>
                <a:latin typeface="Instrument Sans"/>
                <a:ea typeface="Instrument Sans"/>
                <a:cs typeface="Instrument Sans"/>
                <a:sym typeface="Instrument Sans"/>
              </a:rPr>
              <a:t>10 patients total:</a:t>
            </a:r>
            <a:endParaRPr b="1" sz="1600">
              <a:solidFill>
                <a:srgbClr val="D62727"/>
              </a:solidFill>
              <a:latin typeface="Instrument Sans"/>
              <a:ea typeface="Instrument Sans"/>
              <a:cs typeface="Instrument Sans"/>
              <a:sym typeface="Instrument Sans"/>
            </a:endParaRPr>
          </a:p>
          <a:p>
            <a:pPr indent="0" lvl="0" marL="0" rtl="0" algn="ctr">
              <a:spcBef>
                <a:spcPts val="0"/>
              </a:spcBef>
              <a:spcAft>
                <a:spcPts val="0"/>
              </a:spcAft>
              <a:buNone/>
            </a:pPr>
            <a:r>
              <a:rPr lang="en" sz="1600">
                <a:solidFill>
                  <a:srgbClr val="D62727"/>
                </a:solidFill>
                <a:latin typeface="Instrument Sans"/>
                <a:ea typeface="Instrument Sans"/>
                <a:cs typeface="Instrument Sans"/>
                <a:sym typeface="Instrument Sans"/>
              </a:rPr>
              <a:t>3 healthy controls</a:t>
            </a:r>
            <a:endParaRPr sz="1600">
              <a:solidFill>
                <a:srgbClr val="D62727"/>
              </a:solidFill>
              <a:latin typeface="Instrument Sans"/>
              <a:ea typeface="Instrument Sans"/>
              <a:cs typeface="Instrument Sans"/>
              <a:sym typeface="Instrument Sans"/>
            </a:endParaRPr>
          </a:p>
          <a:p>
            <a:pPr indent="0" lvl="0" marL="0" rtl="0" algn="ctr">
              <a:spcBef>
                <a:spcPts val="0"/>
              </a:spcBef>
              <a:spcAft>
                <a:spcPts val="0"/>
              </a:spcAft>
              <a:buNone/>
            </a:pPr>
            <a:r>
              <a:rPr lang="en" sz="1600">
                <a:solidFill>
                  <a:srgbClr val="D62727"/>
                </a:solidFill>
                <a:latin typeface="Instrument Sans"/>
                <a:ea typeface="Instrument Sans"/>
                <a:cs typeface="Instrument Sans"/>
                <a:sym typeface="Instrument Sans"/>
              </a:rPr>
              <a:t>7 AIH patients from POSULD cohort</a:t>
            </a:r>
            <a:endParaRPr sz="1600">
              <a:solidFill>
                <a:srgbClr val="D62727"/>
              </a:solidFill>
              <a:latin typeface="Instrument Sans"/>
              <a:ea typeface="Instrument Sans"/>
              <a:cs typeface="Instrument Sans"/>
              <a:sym typeface="Instrument Sans"/>
            </a:endParaRPr>
          </a:p>
          <a:p>
            <a:pPr indent="0" lvl="0" marL="0" rtl="0" algn="ctr">
              <a:spcBef>
                <a:spcPts val="0"/>
              </a:spcBef>
              <a:spcAft>
                <a:spcPts val="0"/>
              </a:spcAft>
              <a:buNone/>
            </a:pPr>
            <a:r>
              <a:rPr lang="en" sz="1600">
                <a:solidFill>
                  <a:srgbClr val="D62727"/>
                </a:solidFill>
                <a:latin typeface="Instrument Sans"/>
                <a:ea typeface="Instrument Sans"/>
                <a:cs typeface="Instrument Sans"/>
                <a:sym typeface="Instrument Sans"/>
              </a:rPr>
              <a:t>All Female</a:t>
            </a:r>
            <a:endParaRPr sz="1600">
              <a:solidFill>
                <a:srgbClr val="D62727"/>
              </a:solidFill>
              <a:latin typeface="Instrument Sans"/>
              <a:ea typeface="Instrument Sans"/>
              <a:cs typeface="Instrument Sans"/>
              <a:sym typeface="Instrument Sans"/>
            </a:endParaRPr>
          </a:p>
        </p:txBody>
      </p:sp>
      <p:sp>
        <p:nvSpPr>
          <p:cNvPr id="131" name="Google Shape;131;p28"/>
          <p:cNvSpPr txBox="1"/>
          <p:nvPr/>
        </p:nvSpPr>
        <p:spPr>
          <a:xfrm>
            <a:off x="5355000" y="3227275"/>
            <a:ext cx="3477300" cy="6771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0000FF"/>
                </a:solidFill>
                <a:latin typeface="Instrument Sans"/>
                <a:ea typeface="Instrument Sans"/>
                <a:cs typeface="Instrument Sans"/>
                <a:sym typeface="Instrument Sans"/>
              </a:rPr>
              <a:t>~58k nuclei:</a:t>
            </a:r>
            <a:endParaRPr b="1" sz="1600">
              <a:solidFill>
                <a:srgbClr val="0000FF"/>
              </a:solidFill>
              <a:latin typeface="Instrument Sans"/>
              <a:ea typeface="Instrument Sans"/>
              <a:cs typeface="Instrument Sans"/>
              <a:sym typeface="Instrument Sans"/>
            </a:endParaRPr>
          </a:p>
          <a:p>
            <a:pPr indent="0" lvl="0" marL="0" rtl="0" algn="ctr">
              <a:spcBef>
                <a:spcPts val="0"/>
              </a:spcBef>
              <a:spcAft>
                <a:spcPts val="0"/>
              </a:spcAft>
              <a:buNone/>
            </a:pPr>
            <a:r>
              <a:rPr lang="en" sz="1600">
                <a:solidFill>
                  <a:srgbClr val="0000FF"/>
                </a:solidFill>
                <a:latin typeface="Instrument Sans"/>
                <a:ea typeface="Instrument Sans"/>
                <a:cs typeface="Instrument Sans"/>
                <a:sym typeface="Instrument Sans"/>
              </a:rPr>
              <a:t>M</a:t>
            </a:r>
            <a:r>
              <a:rPr lang="en" sz="1600">
                <a:solidFill>
                  <a:srgbClr val="0000FF"/>
                </a:solidFill>
                <a:latin typeface="Instrument Sans"/>
                <a:ea typeface="Instrument Sans"/>
                <a:cs typeface="Instrument Sans"/>
                <a:sym typeface="Instrument Sans"/>
              </a:rPr>
              <a:t>ajor cell types identified</a:t>
            </a:r>
            <a:endParaRPr sz="1600">
              <a:solidFill>
                <a:srgbClr val="0000FF"/>
              </a:solidFill>
              <a:latin typeface="Instrument Sans"/>
              <a:ea typeface="Instrument Sans"/>
              <a:cs typeface="Instrument Sans"/>
              <a:sym typeface="Instrument Sans"/>
            </a:endParaRPr>
          </a:p>
        </p:txBody>
      </p:sp>
      <p:pic>
        <p:nvPicPr>
          <p:cNvPr id="132" name="Google Shape;132;p28"/>
          <p:cNvPicPr preferRelativeResize="0"/>
          <p:nvPr/>
        </p:nvPicPr>
        <p:blipFill>
          <a:blip r:embed="rId3">
            <a:alphaModFix/>
          </a:blip>
          <a:stretch>
            <a:fillRect/>
          </a:stretch>
        </p:blipFill>
        <p:spPr>
          <a:xfrm>
            <a:off x="183625" y="1299825"/>
            <a:ext cx="4915326" cy="3036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9"/>
          <p:cNvPicPr preferRelativeResize="0"/>
          <p:nvPr/>
        </p:nvPicPr>
        <p:blipFill rotWithShape="1">
          <a:blip r:embed="rId3">
            <a:alphaModFix/>
          </a:blip>
          <a:srcRect b="0" l="0" r="0" t="23565"/>
          <a:stretch/>
        </p:blipFill>
        <p:spPr>
          <a:xfrm>
            <a:off x="360650" y="1301550"/>
            <a:ext cx="3449400" cy="2133379"/>
          </a:xfrm>
          <a:prstGeom prst="rect">
            <a:avLst/>
          </a:prstGeom>
          <a:noFill/>
          <a:ln>
            <a:noFill/>
          </a:ln>
        </p:spPr>
      </p:pic>
      <p:sp>
        <p:nvSpPr>
          <p:cNvPr id="138" name="Google Shape;138;p29"/>
          <p:cNvSpPr txBox="1"/>
          <p:nvPr>
            <p:ph type="title"/>
          </p:nvPr>
        </p:nvSpPr>
        <p:spPr>
          <a:xfrm>
            <a:off x="311700" y="305225"/>
            <a:ext cx="8520600" cy="5931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920"/>
              <a:t>Part 1: snRNA-seq identified the key cell types, </a:t>
            </a:r>
            <a:r>
              <a:rPr b="1" lang="en" sz="1920"/>
              <a:t>signaling pathways, and a potential autoantigen involved in AIH</a:t>
            </a:r>
            <a:endParaRPr b="1" sz="1920"/>
          </a:p>
        </p:txBody>
      </p:sp>
      <p:sp>
        <p:nvSpPr>
          <p:cNvPr id="139" name="Google Shape;139;p29"/>
          <p:cNvSpPr/>
          <p:nvPr/>
        </p:nvSpPr>
        <p:spPr>
          <a:xfrm>
            <a:off x="360650" y="1857689"/>
            <a:ext cx="2166600" cy="215700"/>
          </a:xfrm>
          <a:prstGeom prst="rect">
            <a:avLst/>
          </a:prstGeom>
          <a:solidFill>
            <a:srgbClr val="FE7E7E">
              <a:alpha val="19620"/>
            </a:srgbClr>
          </a:solidFill>
          <a:ln cap="flat" cmpd="sng" w="22500">
            <a:solidFill>
              <a:srgbClr val="D62727"/>
            </a:solidFill>
            <a:prstDash val="solid"/>
            <a:round/>
            <a:headEnd len="sm" w="sm" type="none"/>
            <a:tailEnd len="sm" w="sm" type="none"/>
          </a:ln>
        </p:spPr>
        <p:txBody>
          <a:bodyPr anchorCtr="0" anchor="ctr" bIns="108025" lIns="108025" spcFirstLastPara="1" rIns="108025" wrap="square" tIns="108025">
            <a:noAutofit/>
          </a:bodyPr>
          <a:lstStyle/>
          <a:p>
            <a:pPr indent="0" lvl="0" marL="0" rtl="0" algn="ctr">
              <a:spcBef>
                <a:spcPts val="0"/>
              </a:spcBef>
              <a:spcAft>
                <a:spcPts val="0"/>
              </a:spcAft>
              <a:buNone/>
            </a:pPr>
            <a:r>
              <a:t/>
            </a:r>
            <a:endParaRPr sz="1654">
              <a:latin typeface="Instrument Sans"/>
              <a:ea typeface="Instrument Sans"/>
              <a:cs typeface="Instrument Sans"/>
              <a:sym typeface="Instrument Sans"/>
            </a:endParaRPr>
          </a:p>
        </p:txBody>
      </p:sp>
      <p:sp>
        <p:nvSpPr>
          <p:cNvPr id="140" name="Google Shape;140;p29"/>
          <p:cNvSpPr txBox="1"/>
          <p:nvPr/>
        </p:nvSpPr>
        <p:spPr>
          <a:xfrm>
            <a:off x="360650" y="3594749"/>
            <a:ext cx="3449400" cy="9234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Instrument Sans"/>
                <a:ea typeface="Instrument Sans"/>
                <a:cs typeface="Instrument Sans"/>
                <a:sym typeface="Instrument Sans"/>
              </a:rPr>
              <a:t>U</a:t>
            </a:r>
            <a:r>
              <a:rPr b="1" lang="en" sz="1600">
                <a:solidFill>
                  <a:schemeClr val="dk1"/>
                </a:solidFill>
                <a:latin typeface="Instrument Sans"/>
                <a:ea typeface="Instrument Sans"/>
                <a:cs typeface="Instrument Sans"/>
                <a:sym typeface="Instrument Sans"/>
              </a:rPr>
              <a:t>pregulation </a:t>
            </a:r>
            <a:r>
              <a:rPr b="1" lang="en" sz="1600">
                <a:solidFill>
                  <a:schemeClr val="dk1"/>
                </a:solidFill>
                <a:latin typeface="Instrument Sans"/>
                <a:ea typeface="Instrument Sans"/>
                <a:cs typeface="Instrument Sans"/>
                <a:sym typeface="Instrument Sans"/>
              </a:rPr>
              <a:t>of key markers in AIH livers, specifically in myeloid and lymphocytes</a:t>
            </a:r>
            <a:endParaRPr b="1" sz="1600">
              <a:solidFill>
                <a:schemeClr val="dk1"/>
              </a:solidFill>
              <a:latin typeface="Instrument Sans"/>
              <a:ea typeface="Instrument Sans"/>
              <a:cs typeface="Instrument Sans"/>
              <a:sym typeface="Instrument Sans"/>
            </a:endParaRPr>
          </a:p>
        </p:txBody>
      </p:sp>
      <p:sp>
        <p:nvSpPr>
          <p:cNvPr id="141" name="Google Shape;141;p29"/>
          <p:cNvSpPr/>
          <p:nvPr/>
        </p:nvSpPr>
        <p:spPr>
          <a:xfrm>
            <a:off x="360650" y="2310362"/>
            <a:ext cx="2166600" cy="215700"/>
          </a:xfrm>
          <a:prstGeom prst="rect">
            <a:avLst/>
          </a:prstGeom>
          <a:solidFill>
            <a:srgbClr val="FE7E7E">
              <a:alpha val="19620"/>
            </a:srgbClr>
          </a:solidFill>
          <a:ln cap="flat" cmpd="sng" w="22500">
            <a:solidFill>
              <a:srgbClr val="D62727"/>
            </a:solidFill>
            <a:prstDash val="solid"/>
            <a:round/>
            <a:headEnd len="sm" w="sm" type="none"/>
            <a:tailEnd len="sm" w="sm" type="none"/>
          </a:ln>
        </p:spPr>
        <p:txBody>
          <a:bodyPr anchorCtr="0" anchor="ctr" bIns="108025" lIns="108025" spcFirstLastPara="1" rIns="108025" wrap="square" tIns="108025">
            <a:noAutofit/>
          </a:bodyPr>
          <a:lstStyle/>
          <a:p>
            <a:pPr indent="0" lvl="0" marL="0" rtl="0" algn="ctr">
              <a:spcBef>
                <a:spcPts val="0"/>
              </a:spcBef>
              <a:spcAft>
                <a:spcPts val="0"/>
              </a:spcAft>
              <a:buNone/>
            </a:pPr>
            <a:r>
              <a:t/>
            </a:r>
            <a:endParaRPr sz="1654">
              <a:latin typeface="Instrument Sans"/>
              <a:ea typeface="Instrument Sans"/>
              <a:cs typeface="Instrument Sans"/>
              <a:sym typeface="Instrument Sans"/>
            </a:endParaRPr>
          </a:p>
        </p:txBody>
      </p:sp>
      <p:pic>
        <p:nvPicPr>
          <p:cNvPr id="142" name="Google Shape;142;p29"/>
          <p:cNvPicPr preferRelativeResize="0"/>
          <p:nvPr/>
        </p:nvPicPr>
        <p:blipFill rotWithShape="1">
          <a:blip r:embed="rId4">
            <a:alphaModFix/>
          </a:blip>
          <a:srcRect b="0" l="0" r="51754" t="48538"/>
          <a:stretch/>
        </p:blipFill>
        <p:spPr>
          <a:xfrm>
            <a:off x="4562236" y="1079300"/>
            <a:ext cx="1209275" cy="1366025"/>
          </a:xfrm>
          <a:prstGeom prst="rect">
            <a:avLst/>
          </a:prstGeom>
          <a:noFill/>
          <a:ln>
            <a:noFill/>
          </a:ln>
        </p:spPr>
      </p:pic>
      <p:pic>
        <p:nvPicPr>
          <p:cNvPr id="143" name="Google Shape;143;p29"/>
          <p:cNvPicPr preferRelativeResize="0"/>
          <p:nvPr/>
        </p:nvPicPr>
        <p:blipFill rotWithShape="1">
          <a:blip r:embed="rId5">
            <a:alphaModFix/>
          </a:blip>
          <a:srcRect b="0" l="0" r="58055" t="52952"/>
          <a:stretch/>
        </p:blipFill>
        <p:spPr>
          <a:xfrm>
            <a:off x="4793564" y="3195775"/>
            <a:ext cx="1007400" cy="1255276"/>
          </a:xfrm>
          <a:prstGeom prst="rect">
            <a:avLst/>
          </a:prstGeom>
          <a:noFill/>
          <a:ln>
            <a:noFill/>
          </a:ln>
        </p:spPr>
      </p:pic>
      <p:sp>
        <p:nvSpPr>
          <p:cNvPr id="144" name="Google Shape;144;p29"/>
          <p:cNvSpPr txBox="1"/>
          <p:nvPr/>
        </p:nvSpPr>
        <p:spPr>
          <a:xfrm>
            <a:off x="4121929" y="2626289"/>
            <a:ext cx="4882800" cy="388500"/>
          </a:xfrm>
          <a:prstGeom prst="rect">
            <a:avLst/>
          </a:prstGeom>
          <a:solidFill>
            <a:srgbClr val="CFE2F3"/>
          </a:solidFill>
          <a:ln>
            <a:noFill/>
          </a:ln>
        </p:spPr>
        <p:txBody>
          <a:bodyPr anchorCtr="0" anchor="t" bIns="85475" lIns="85475" spcFirstLastPara="1" rIns="85475" wrap="square" tIns="85475">
            <a:spAutoFit/>
          </a:bodyPr>
          <a:lstStyle/>
          <a:p>
            <a:pPr indent="0" lvl="0" marL="0" rtl="0" algn="ctr">
              <a:spcBef>
                <a:spcPts val="0"/>
              </a:spcBef>
              <a:spcAft>
                <a:spcPts val="0"/>
              </a:spcAft>
              <a:buNone/>
            </a:pPr>
            <a:r>
              <a:rPr lang="en" sz="1402">
                <a:solidFill>
                  <a:schemeClr val="dk1"/>
                </a:solidFill>
                <a:latin typeface="Instrument Sans"/>
                <a:ea typeface="Instrument Sans"/>
                <a:cs typeface="Instrument Sans"/>
                <a:sym typeface="Instrument Sans"/>
              </a:rPr>
              <a:t>Upregulation of </a:t>
            </a:r>
            <a:r>
              <a:rPr b="1" lang="en" sz="1402">
                <a:solidFill>
                  <a:schemeClr val="dk1"/>
                </a:solidFill>
                <a:latin typeface="Instrument Sans"/>
                <a:ea typeface="Instrument Sans"/>
                <a:cs typeface="Instrument Sans"/>
                <a:sym typeface="Instrument Sans"/>
              </a:rPr>
              <a:t>CD40/CD40LG</a:t>
            </a:r>
            <a:r>
              <a:rPr lang="en" sz="1402">
                <a:solidFill>
                  <a:schemeClr val="dk1"/>
                </a:solidFill>
                <a:latin typeface="Instrument Sans"/>
                <a:ea typeface="Instrument Sans"/>
                <a:cs typeface="Instrument Sans"/>
                <a:sym typeface="Instrument Sans"/>
              </a:rPr>
              <a:t> in B/T cells in AIH livers</a:t>
            </a:r>
            <a:endParaRPr sz="1402">
              <a:solidFill>
                <a:schemeClr val="dk1"/>
              </a:solidFill>
              <a:latin typeface="Instrument Sans"/>
              <a:ea typeface="Instrument Sans"/>
              <a:cs typeface="Instrument Sans"/>
              <a:sym typeface="Instrument Sans"/>
            </a:endParaRPr>
          </a:p>
        </p:txBody>
      </p:sp>
      <p:sp>
        <p:nvSpPr>
          <p:cNvPr id="145" name="Google Shape;145;p29"/>
          <p:cNvSpPr txBox="1"/>
          <p:nvPr/>
        </p:nvSpPr>
        <p:spPr>
          <a:xfrm>
            <a:off x="4121929" y="4435596"/>
            <a:ext cx="4882800" cy="359700"/>
          </a:xfrm>
          <a:prstGeom prst="rect">
            <a:avLst/>
          </a:prstGeom>
          <a:solidFill>
            <a:srgbClr val="CFE2F3"/>
          </a:solidFill>
          <a:ln>
            <a:noFill/>
          </a:ln>
        </p:spPr>
        <p:txBody>
          <a:bodyPr anchorCtr="0" anchor="t" bIns="85475" lIns="85475" spcFirstLastPara="1" rIns="85475" wrap="square" tIns="85475">
            <a:spAutoFit/>
          </a:bodyPr>
          <a:lstStyle/>
          <a:p>
            <a:pPr indent="0" lvl="0" marL="0" rtl="0" algn="ctr">
              <a:spcBef>
                <a:spcPts val="0"/>
              </a:spcBef>
              <a:spcAft>
                <a:spcPts val="0"/>
              </a:spcAft>
              <a:buNone/>
            </a:pPr>
            <a:r>
              <a:rPr lang="en" sz="1215">
                <a:solidFill>
                  <a:schemeClr val="dk1"/>
                </a:solidFill>
                <a:latin typeface="Instrument Sans"/>
                <a:ea typeface="Instrument Sans"/>
                <a:cs typeface="Instrument Sans"/>
                <a:sym typeface="Instrument Sans"/>
              </a:rPr>
              <a:t>Upregulation of </a:t>
            </a:r>
            <a:r>
              <a:rPr b="1" lang="en" sz="1215">
                <a:solidFill>
                  <a:schemeClr val="dk1"/>
                </a:solidFill>
                <a:latin typeface="Instrument Sans"/>
                <a:ea typeface="Instrument Sans"/>
                <a:cs typeface="Instrument Sans"/>
                <a:sym typeface="Instrument Sans"/>
              </a:rPr>
              <a:t>AFF3</a:t>
            </a:r>
            <a:r>
              <a:rPr lang="en" sz="1215">
                <a:solidFill>
                  <a:schemeClr val="dk1"/>
                </a:solidFill>
                <a:latin typeface="Instrument Sans"/>
                <a:ea typeface="Instrument Sans"/>
                <a:cs typeface="Instrument Sans"/>
                <a:sym typeface="Instrument Sans"/>
              </a:rPr>
              <a:t> in Periportal Hepatocytes in AIH livers</a:t>
            </a:r>
            <a:endParaRPr sz="1215">
              <a:solidFill>
                <a:schemeClr val="dk1"/>
              </a:solidFill>
              <a:latin typeface="Instrument Sans"/>
              <a:ea typeface="Instrument Sans"/>
              <a:cs typeface="Instrument Sans"/>
              <a:sym typeface="Instrument Sans"/>
            </a:endParaRPr>
          </a:p>
        </p:txBody>
      </p:sp>
      <p:pic>
        <p:nvPicPr>
          <p:cNvPr id="146" name="Google Shape;146;p29"/>
          <p:cNvPicPr preferRelativeResize="0"/>
          <p:nvPr/>
        </p:nvPicPr>
        <p:blipFill rotWithShape="1">
          <a:blip r:embed="rId6">
            <a:alphaModFix/>
          </a:blip>
          <a:srcRect b="0" l="0" r="50446" t="30934"/>
          <a:stretch/>
        </p:blipFill>
        <p:spPr>
          <a:xfrm>
            <a:off x="6523663" y="1099400"/>
            <a:ext cx="1071875" cy="1499524"/>
          </a:xfrm>
          <a:prstGeom prst="rect">
            <a:avLst/>
          </a:prstGeom>
          <a:noFill/>
          <a:ln>
            <a:noFill/>
          </a:ln>
        </p:spPr>
      </p:pic>
      <p:sp>
        <p:nvSpPr>
          <p:cNvPr id="147" name="Google Shape;147;p29"/>
          <p:cNvSpPr/>
          <p:nvPr/>
        </p:nvSpPr>
        <p:spPr>
          <a:xfrm>
            <a:off x="6523675" y="1188245"/>
            <a:ext cx="1007400" cy="222000"/>
          </a:xfrm>
          <a:prstGeom prst="rect">
            <a:avLst/>
          </a:prstGeom>
          <a:solidFill>
            <a:srgbClr val="FE7E7E">
              <a:alpha val="19620"/>
            </a:srgbClr>
          </a:solidFill>
          <a:ln cap="flat" cmpd="sng" w="17800">
            <a:solidFill>
              <a:srgbClr val="D62727"/>
            </a:solidFill>
            <a:prstDash val="solid"/>
            <a:round/>
            <a:headEnd len="sm" w="sm" type="none"/>
            <a:tailEnd len="sm" w="sm" type="none"/>
          </a:ln>
        </p:spPr>
        <p:txBody>
          <a:bodyPr anchorCtr="0" anchor="ctr" bIns="85475" lIns="85475" spcFirstLastPara="1" rIns="85475" wrap="square" tIns="85475">
            <a:noAutofit/>
          </a:bodyPr>
          <a:lstStyle/>
          <a:p>
            <a:pPr indent="0" lvl="0" marL="0" rtl="0" algn="ctr">
              <a:spcBef>
                <a:spcPts val="0"/>
              </a:spcBef>
              <a:spcAft>
                <a:spcPts val="0"/>
              </a:spcAft>
              <a:buNone/>
            </a:pPr>
            <a:r>
              <a:t/>
            </a:r>
            <a:endParaRPr sz="1309">
              <a:latin typeface="Instrument Sans"/>
              <a:ea typeface="Instrument Sans"/>
              <a:cs typeface="Instrument Sans"/>
              <a:sym typeface="Instrument Sans"/>
            </a:endParaRPr>
          </a:p>
        </p:txBody>
      </p:sp>
      <p:pic>
        <p:nvPicPr>
          <p:cNvPr id="148" name="Google Shape;148;p29"/>
          <p:cNvPicPr preferRelativeResize="0"/>
          <p:nvPr/>
        </p:nvPicPr>
        <p:blipFill rotWithShape="1">
          <a:blip r:embed="rId7">
            <a:alphaModFix/>
          </a:blip>
          <a:srcRect b="0" l="0" r="34972" t="33665"/>
          <a:stretch/>
        </p:blipFill>
        <p:spPr>
          <a:xfrm>
            <a:off x="6027388" y="3042187"/>
            <a:ext cx="1975277" cy="1366024"/>
          </a:xfrm>
          <a:prstGeom prst="rect">
            <a:avLst/>
          </a:prstGeom>
          <a:noFill/>
          <a:ln>
            <a:noFill/>
          </a:ln>
        </p:spPr>
      </p:pic>
      <p:sp>
        <p:nvSpPr>
          <p:cNvPr id="149" name="Google Shape;149;p29"/>
          <p:cNvSpPr/>
          <p:nvPr/>
        </p:nvSpPr>
        <p:spPr>
          <a:xfrm>
            <a:off x="6523675" y="1609587"/>
            <a:ext cx="1007400" cy="222000"/>
          </a:xfrm>
          <a:prstGeom prst="rect">
            <a:avLst/>
          </a:prstGeom>
          <a:solidFill>
            <a:srgbClr val="FE7E7E">
              <a:alpha val="19620"/>
            </a:srgbClr>
          </a:solidFill>
          <a:ln cap="flat" cmpd="sng" w="17800">
            <a:solidFill>
              <a:srgbClr val="D62727"/>
            </a:solidFill>
            <a:prstDash val="solid"/>
            <a:round/>
            <a:headEnd len="sm" w="sm" type="none"/>
            <a:tailEnd len="sm" w="sm" type="none"/>
          </a:ln>
        </p:spPr>
        <p:txBody>
          <a:bodyPr anchorCtr="0" anchor="ctr" bIns="85475" lIns="85475" spcFirstLastPara="1" rIns="85475" wrap="square" tIns="85475">
            <a:noAutofit/>
          </a:bodyPr>
          <a:lstStyle/>
          <a:p>
            <a:pPr indent="0" lvl="0" marL="0" rtl="0" algn="ctr">
              <a:spcBef>
                <a:spcPts val="0"/>
              </a:spcBef>
              <a:spcAft>
                <a:spcPts val="0"/>
              </a:spcAft>
              <a:buNone/>
            </a:pPr>
            <a:r>
              <a:t/>
            </a:r>
            <a:endParaRPr sz="1309">
              <a:latin typeface="Instrument Sans"/>
              <a:ea typeface="Instrument Sans"/>
              <a:cs typeface="Instrument Sans"/>
              <a:sym typeface="Instrument Sans"/>
            </a:endParaRPr>
          </a:p>
        </p:txBody>
      </p:sp>
      <p:sp>
        <p:nvSpPr>
          <p:cNvPr id="150" name="Google Shape;150;p29"/>
          <p:cNvSpPr/>
          <p:nvPr/>
        </p:nvSpPr>
        <p:spPr>
          <a:xfrm>
            <a:off x="6071216" y="3552364"/>
            <a:ext cx="1836300" cy="243600"/>
          </a:xfrm>
          <a:prstGeom prst="rect">
            <a:avLst/>
          </a:prstGeom>
          <a:solidFill>
            <a:srgbClr val="FE7E7E">
              <a:alpha val="19620"/>
            </a:srgbClr>
          </a:solidFill>
          <a:ln cap="flat" cmpd="sng" w="23600">
            <a:solidFill>
              <a:srgbClr val="D62727"/>
            </a:solidFill>
            <a:prstDash val="solid"/>
            <a:round/>
            <a:headEnd len="sm" w="sm" type="none"/>
            <a:tailEnd len="sm" w="sm" type="none"/>
          </a:ln>
        </p:spPr>
        <p:txBody>
          <a:bodyPr anchorCtr="0" anchor="ctr" bIns="113275" lIns="113275" spcFirstLastPara="1" rIns="113275" wrap="square" tIns="113275">
            <a:noAutofit/>
          </a:bodyPr>
          <a:lstStyle/>
          <a:p>
            <a:pPr indent="0" lvl="0" marL="0" rtl="0" algn="ctr">
              <a:spcBef>
                <a:spcPts val="0"/>
              </a:spcBef>
              <a:spcAft>
                <a:spcPts val="0"/>
              </a:spcAft>
              <a:buNone/>
            </a:pPr>
            <a:r>
              <a:t/>
            </a:r>
            <a:endParaRPr sz="1735">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0"/>
          <p:cNvSpPr txBox="1"/>
          <p:nvPr>
            <p:ph type="title"/>
          </p:nvPr>
        </p:nvSpPr>
        <p:spPr>
          <a:xfrm>
            <a:off x="311700" y="305225"/>
            <a:ext cx="8520600" cy="4197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920"/>
              <a:t>Part 2: Spatial </a:t>
            </a:r>
            <a:r>
              <a:rPr b="1" lang="en" sz="1920"/>
              <a:t>Transcriptomics</a:t>
            </a:r>
            <a:r>
              <a:rPr b="1" lang="en" sz="1920"/>
              <a:t> analysis of patient livers</a:t>
            </a:r>
            <a:endParaRPr b="1" sz="1920"/>
          </a:p>
        </p:txBody>
      </p:sp>
      <p:pic>
        <p:nvPicPr>
          <p:cNvPr id="156" name="Google Shape;156;p30"/>
          <p:cNvPicPr preferRelativeResize="0"/>
          <p:nvPr/>
        </p:nvPicPr>
        <p:blipFill rotWithShape="1">
          <a:blip r:embed="rId3">
            <a:alphaModFix/>
          </a:blip>
          <a:srcRect b="0" l="0" r="24156" t="0"/>
          <a:stretch/>
        </p:blipFill>
        <p:spPr>
          <a:xfrm>
            <a:off x="136525" y="1903325"/>
            <a:ext cx="2576399" cy="1238375"/>
          </a:xfrm>
          <a:prstGeom prst="rect">
            <a:avLst/>
          </a:prstGeom>
          <a:noFill/>
          <a:ln>
            <a:noFill/>
          </a:ln>
        </p:spPr>
      </p:pic>
      <p:sp>
        <p:nvSpPr>
          <p:cNvPr id="157" name="Google Shape;157;p30"/>
          <p:cNvSpPr txBox="1"/>
          <p:nvPr/>
        </p:nvSpPr>
        <p:spPr>
          <a:xfrm>
            <a:off x="311700" y="1020275"/>
            <a:ext cx="8520600" cy="415500"/>
          </a:xfrm>
          <a:prstGeom prst="rect">
            <a:avLst/>
          </a:prstGeom>
          <a:solidFill>
            <a:srgbClr val="FE7E7E">
              <a:alpha val="19620"/>
            </a:srgbClr>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rgbClr val="D62727"/>
                </a:solidFill>
                <a:latin typeface="Instrument Sans"/>
                <a:ea typeface="Instrument Sans"/>
                <a:cs typeface="Instrument Sans"/>
                <a:sym typeface="Instrument Sans"/>
              </a:rPr>
              <a:t>48</a:t>
            </a:r>
            <a:r>
              <a:rPr b="1" lang="en" sz="1500">
                <a:solidFill>
                  <a:srgbClr val="D62727"/>
                </a:solidFill>
                <a:latin typeface="Instrument Sans"/>
                <a:ea typeface="Instrument Sans"/>
                <a:cs typeface="Instrument Sans"/>
                <a:sym typeface="Instrument Sans"/>
              </a:rPr>
              <a:t> patients: </a:t>
            </a:r>
            <a:r>
              <a:rPr lang="en" sz="1500">
                <a:solidFill>
                  <a:srgbClr val="D62727"/>
                </a:solidFill>
                <a:latin typeface="Instrument Sans"/>
                <a:ea typeface="Instrument Sans"/>
                <a:cs typeface="Instrument Sans"/>
                <a:sym typeface="Instrument Sans"/>
              </a:rPr>
              <a:t>42 patients from POSULD cohort, 6</a:t>
            </a:r>
            <a:r>
              <a:rPr lang="en" sz="1500">
                <a:solidFill>
                  <a:srgbClr val="D62727"/>
                </a:solidFill>
                <a:latin typeface="Instrument Sans"/>
                <a:ea typeface="Instrument Sans"/>
                <a:cs typeface="Instrument Sans"/>
                <a:sym typeface="Instrument Sans"/>
              </a:rPr>
              <a:t> healthy control patients</a:t>
            </a:r>
            <a:endParaRPr sz="1500">
              <a:solidFill>
                <a:srgbClr val="D62727"/>
              </a:solidFill>
              <a:latin typeface="Instrument Sans"/>
              <a:ea typeface="Instrument Sans"/>
              <a:cs typeface="Instrument Sans"/>
              <a:sym typeface="Instrument Sans"/>
            </a:endParaRPr>
          </a:p>
        </p:txBody>
      </p:sp>
      <p:pic>
        <p:nvPicPr>
          <p:cNvPr id="158" name="Google Shape;158;p30"/>
          <p:cNvPicPr preferRelativeResize="0"/>
          <p:nvPr/>
        </p:nvPicPr>
        <p:blipFill rotWithShape="1">
          <a:blip r:embed="rId4">
            <a:alphaModFix/>
          </a:blip>
          <a:srcRect b="0" l="0" r="59220" t="51212"/>
          <a:stretch/>
        </p:blipFill>
        <p:spPr>
          <a:xfrm>
            <a:off x="4695500" y="1746538"/>
            <a:ext cx="1729575" cy="1551949"/>
          </a:xfrm>
          <a:prstGeom prst="rect">
            <a:avLst/>
          </a:prstGeom>
          <a:noFill/>
          <a:ln>
            <a:noFill/>
          </a:ln>
        </p:spPr>
      </p:pic>
      <p:pic>
        <p:nvPicPr>
          <p:cNvPr id="159" name="Google Shape;159;p30"/>
          <p:cNvPicPr preferRelativeResize="0"/>
          <p:nvPr/>
        </p:nvPicPr>
        <p:blipFill rotWithShape="1">
          <a:blip r:embed="rId5">
            <a:alphaModFix/>
          </a:blip>
          <a:srcRect b="0" l="0" r="41215" t="0"/>
          <a:stretch/>
        </p:blipFill>
        <p:spPr>
          <a:xfrm>
            <a:off x="2937302" y="1808102"/>
            <a:ext cx="1429146" cy="1457747"/>
          </a:xfrm>
          <a:prstGeom prst="rect">
            <a:avLst/>
          </a:prstGeom>
          <a:noFill/>
          <a:ln>
            <a:noFill/>
          </a:ln>
        </p:spPr>
      </p:pic>
      <p:cxnSp>
        <p:nvCxnSpPr>
          <p:cNvPr id="160" name="Google Shape;160;p30"/>
          <p:cNvCxnSpPr/>
          <p:nvPr/>
        </p:nvCxnSpPr>
        <p:spPr>
          <a:xfrm>
            <a:off x="4396028" y="2536976"/>
            <a:ext cx="387300" cy="0"/>
          </a:xfrm>
          <a:prstGeom prst="straightConnector1">
            <a:avLst/>
          </a:prstGeom>
          <a:noFill/>
          <a:ln cap="flat" cmpd="sng" w="25525">
            <a:solidFill>
              <a:srgbClr val="202124"/>
            </a:solidFill>
            <a:prstDash val="solid"/>
            <a:round/>
            <a:headEnd len="med" w="med" type="none"/>
            <a:tailEnd len="med" w="med" type="triangle"/>
          </a:ln>
        </p:spPr>
      </p:cxnSp>
      <p:pic>
        <p:nvPicPr>
          <p:cNvPr id="161" name="Google Shape;161;p30"/>
          <p:cNvPicPr preferRelativeResize="0"/>
          <p:nvPr/>
        </p:nvPicPr>
        <p:blipFill rotWithShape="1">
          <a:blip r:embed="rId3">
            <a:alphaModFix/>
          </a:blip>
          <a:srcRect b="35215" l="75290" r="0" t="30894"/>
          <a:stretch/>
        </p:blipFill>
        <p:spPr>
          <a:xfrm>
            <a:off x="1005025" y="3141700"/>
            <a:ext cx="839399" cy="419700"/>
          </a:xfrm>
          <a:prstGeom prst="rect">
            <a:avLst/>
          </a:prstGeom>
          <a:noFill/>
          <a:ln>
            <a:noFill/>
          </a:ln>
        </p:spPr>
      </p:pic>
      <p:sp>
        <p:nvSpPr>
          <p:cNvPr id="162" name="Google Shape;162;p30"/>
          <p:cNvSpPr txBox="1"/>
          <p:nvPr/>
        </p:nvSpPr>
        <p:spPr>
          <a:xfrm>
            <a:off x="136525" y="3561400"/>
            <a:ext cx="2576400" cy="86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Instrument Sans"/>
                <a:ea typeface="Instrument Sans"/>
                <a:cs typeface="Instrument Sans"/>
                <a:sym typeface="Instrument Sans"/>
              </a:rPr>
              <a:t>Generate liver tissue microarrays </a:t>
            </a:r>
            <a:endParaRPr sz="1600">
              <a:solidFill>
                <a:schemeClr val="dk1"/>
              </a:solidFill>
              <a:latin typeface="Instrument Sans"/>
              <a:ea typeface="Instrument Sans"/>
              <a:cs typeface="Instrument Sans"/>
              <a:sym typeface="Instrument Sans"/>
            </a:endParaRPr>
          </a:p>
        </p:txBody>
      </p:sp>
      <p:sp>
        <p:nvSpPr>
          <p:cNvPr id="163" name="Google Shape;163;p30"/>
          <p:cNvSpPr txBox="1"/>
          <p:nvPr/>
        </p:nvSpPr>
        <p:spPr>
          <a:xfrm>
            <a:off x="3096150" y="3561400"/>
            <a:ext cx="2945700" cy="86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Instrument Sans"/>
                <a:ea typeface="Instrument Sans"/>
                <a:cs typeface="Instrument Sans"/>
                <a:sym typeface="Instrument Sans"/>
              </a:rPr>
              <a:t>Apply probes from human liver gene panel to generate counts matrix of spatial data</a:t>
            </a:r>
            <a:endParaRPr sz="1600">
              <a:solidFill>
                <a:schemeClr val="dk1"/>
              </a:solidFill>
              <a:latin typeface="Instrument Sans"/>
              <a:ea typeface="Instrument Sans"/>
              <a:cs typeface="Instrument Sans"/>
              <a:sym typeface="Instrument Sans"/>
            </a:endParaRPr>
          </a:p>
        </p:txBody>
      </p:sp>
      <p:pic>
        <p:nvPicPr>
          <p:cNvPr id="164" name="Google Shape;164;p30"/>
          <p:cNvPicPr preferRelativeResize="0"/>
          <p:nvPr/>
        </p:nvPicPr>
        <p:blipFill rotWithShape="1">
          <a:blip r:embed="rId6">
            <a:alphaModFix/>
          </a:blip>
          <a:srcRect b="0" l="0" r="23395" t="0"/>
          <a:stretch/>
        </p:blipFill>
        <p:spPr>
          <a:xfrm>
            <a:off x="6569275" y="1579725"/>
            <a:ext cx="2457444" cy="1981674"/>
          </a:xfrm>
          <a:prstGeom prst="rect">
            <a:avLst/>
          </a:prstGeom>
          <a:noFill/>
          <a:ln>
            <a:noFill/>
          </a:ln>
        </p:spPr>
      </p:pic>
      <p:sp>
        <p:nvSpPr>
          <p:cNvPr id="165" name="Google Shape;165;p30"/>
          <p:cNvSpPr txBox="1"/>
          <p:nvPr/>
        </p:nvSpPr>
        <p:spPr>
          <a:xfrm>
            <a:off x="6425075" y="3561400"/>
            <a:ext cx="2519700" cy="868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Instrument Sans"/>
                <a:ea typeface="Instrument Sans"/>
                <a:cs typeface="Instrument Sans"/>
                <a:sym typeface="Instrument Sans"/>
              </a:rPr>
              <a:t>Identify cell types from spatial data</a:t>
            </a:r>
            <a:endParaRPr sz="1600">
              <a:solidFill>
                <a:schemeClr val="dk1"/>
              </a:solidFill>
              <a:latin typeface="Instrument Sans"/>
              <a:ea typeface="Instrument Sans"/>
              <a:cs typeface="Instrument Sans"/>
              <a:sym typeface="Instrument Sans"/>
            </a:endParaRPr>
          </a:p>
        </p:txBody>
      </p:sp>
      <p:cxnSp>
        <p:nvCxnSpPr>
          <p:cNvPr id="166" name="Google Shape;166;p30"/>
          <p:cNvCxnSpPr/>
          <p:nvPr/>
        </p:nvCxnSpPr>
        <p:spPr>
          <a:xfrm>
            <a:off x="2671511" y="2536975"/>
            <a:ext cx="129000" cy="0"/>
          </a:xfrm>
          <a:prstGeom prst="straightConnector1">
            <a:avLst/>
          </a:prstGeom>
          <a:noFill/>
          <a:ln cap="flat" cmpd="sng" w="25525">
            <a:solidFill>
              <a:srgbClr val="202124"/>
            </a:solidFill>
            <a:prstDash val="solid"/>
            <a:round/>
            <a:headEnd len="med" w="med" type="none"/>
            <a:tailEnd len="med" w="med" type="triangle"/>
          </a:ln>
        </p:spPr>
      </p:cxnSp>
      <p:cxnSp>
        <p:nvCxnSpPr>
          <p:cNvPr id="167" name="Google Shape;167;p30"/>
          <p:cNvCxnSpPr/>
          <p:nvPr/>
        </p:nvCxnSpPr>
        <p:spPr>
          <a:xfrm>
            <a:off x="6414978" y="2536976"/>
            <a:ext cx="387300" cy="0"/>
          </a:xfrm>
          <a:prstGeom prst="straightConnector1">
            <a:avLst/>
          </a:prstGeom>
          <a:noFill/>
          <a:ln cap="flat" cmpd="sng" w="25525">
            <a:solidFill>
              <a:srgbClr val="202124"/>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1"/>
          <p:cNvPicPr preferRelativeResize="0"/>
          <p:nvPr/>
        </p:nvPicPr>
        <p:blipFill rotWithShape="1">
          <a:blip r:embed="rId3">
            <a:alphaModFix/>
          </a:blip>
          <a:srcRect b="0" l="0" r="23460" t="8063"/>
          <a:stretch/>
        </p:blipFill>
        <p:spPr>
          <a:xfrm>
            <a:off x="4977550" y="1367575"/>
            <a:ext cx="3301646" cy="2410601"/>
          </a:xfrm>
          <a:prstGeom prst="rect">
            <a:avLst/>
          </a:prstGeom>
          <a:noFill/>
          <a:ln>
            <a:noFill/>
          </a:ln>
        </p:spPr>
      </p:pic>
      <p:pic>
        <p:nvPicPr>
          <p:cNvPr id="173" name="Google Shape;173;p31"/>
          <p:cNvPicPr preferRelativeResize="0"/>
          <p:nvPr/>
        </p:nvPicPr>
        <p:blipFill rotWithShape="1">
          <a:blip r:embed="rId4">
            <a:alphaModFix/>
          </a:blip>
          <a:srcRect b="0" l="0" r="0" t="7978"/>
          <a:stretch/>
        </p:blipFill>
        <p:spPr>
          <a:xfrm>
            <a:off x="115000" y="1601372"/>
            <a:ext cx="3910519" cy="2222923"/>
          </a:xfrm>
          <a:prstGeom prst="rect">
            <a:avLst/>
          </a:prstGeom>
          <a:noFill/>
          <a:ln>
            <a:noFill/>
          </a:ln>
        </p:spPr>
      </p:pic>
      <p:sp>
        <p:nvSpPr>
          <p:cNvPr id="174" name="Google Shape;174;p31"/>
          <p:cNvSpPr txBox="1"/>
          <p:nvPr>
            <p:ph idx="4294967295" type="title"/>
          </p:nvPr>
        </p:nvSpPr>
        <p:spPr>
          <a:xfrm>
            <a:off x="311700" y="550950"/>
            <a:ext cx="8541600" cy="6606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820">
                <a:latin typeface="Instrument Sans"/>
                <a:ea typeface="Instrument Sans"/>
                <a:cs typeface="Instrument Sans"/>
                <a:sym typeface="Instrument Sans"/>
              </a:rPr>
              <a:t>I</a:t>
            </a:r>
            <a:r>
              <a:rPr b="1" lang="en" sz="1820">
                <a:latin typeface="Instrument Sans"/>
                <a:ea typeface="Instrument Sans"/>
                <a:cs typeface="Instrument Sans"/>
                <a:sym typeface="Instrument Sans"/>
              </a:rPr>
              <a:t>dentify </a:t>
            </a:r>
            <a:r>
              <a:rPr b="1" lang="en" sz="1820">
                <a:latin typeface="Instrument Sans"/>
                <a:ea typeface="Instrument Sans"/>
                <a:cs typeface="Instrument Sans"/>
                <a:sym typeface="Instrument Sans"/>
              </a:rPr>
              <a:t>the </a:t>
            </a:r>
            <a:r>
              <a:rPr b="1" lang="en" sz="1820">
                <a:latin typeface="Instrument Sans"/>
                <a:ea typeface="Instrument Sans"/>
                <a:cs typeface="Instrument Sans"/>
                <a:sym typeface="Instrument Sans"/>
              </a:rPr>
              <a:t>major cell types and map them back to their spatial context</a:t>
            </a:r>
            <a:endParaRPr b="1" sz="1820">
              <a:latin typeface="Instrument Sans"/>
              <a:ea typeface="Instrument Sans"/>
              <a:cs typeface="Instrument Sans"/>
              <a:sym typeface="Instrument Sans"/>
            </a:endParaRPr>
          </a:p>
        </p:txBody>
      </p:sp>
      <p:sp>
        <p:nvSpPr>
          <p:cNvPr id="175" name="Google Shape;175;p31"/>
          <p:cNvSpPr txBox="1"/>
          <p:nvPr/>
        </p:nvSpPr>
        <p:spPr>
          <a:xfrm>
            <a:off x="2843850" y="3934200"/>
            <a:ext cx="3477300" cy="8313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Instrument Sans"/>
                <a:ea typeface="Instrument Sans"/>
                <a:cs typeface="Instrument Sans"/>
                <a:sym typeface="Instrument Sans"/>
              </a:rPr>
              <a:t>~1.3 mil cells total</a:t>
            </a:r>
            <a:endParaRPr b="1">
              <a:solidFill>
                <a:schemeClr val="dk1"/>
              </a:solidFill>
              <a:latin typeface="Instrument Sans"/>
              <a:ea typeface="Instrument Sans"/>
              <a:cs typeface="Instrument Sans"/>
              <a:sym typeface="Instrument Sans"/>
            </a:endParaRPr>
          </a:p>
          <a:p>
            <a:pPr indent="0" lvl="0" marL="0" rtl="0" algn="ctr">
              <a:spcBef>
                <a:spcPts val="0"/>
              </a:spcBef>
              <a:spcAft>
                <a:spcPts val="0"/>
              </a:spcAft>
              <a:buNone/>
            </a:pPr>
            <a:r>
              <a:rPr lang="en">
                <a:solidFill>
                  <a:schemeClr val="dk1"/>
                </a:solidFill>
                <a:latin typeface="Instrument Sans"/>
                <a:ea typeface="Instrument Sans"/>
                <a:cs typeface="Instrument Sans"/>
                <a:sym typeface="Instrument Sans"/>
              </a:rPr>
              <a:t>570k Normal cells</a:t>
            </a:r>
            <a:endParaRPr>
              <a:solidFill>
                <a:schemeClr val="dk1"/>
              </a:solidFill>
              <a:latin typeface="Instrument Sans"/>
              <a:ea typeface="Instrument Sans"/>
              <a:cs typeface="Instrument Sans"/>
              <a:sym typeface="Instrument Sans"/>
            </a:endParaRPr>
          </a:p>
          <a:p>
            <a:pPr indent="0" lvl="0" marL="0" rtl="0" algn="ctr">
              <a:spcBef>
                <a:spcPts val="0"/>
              </a:spcBef>
              <a:spcAft>
                <a:spcPts val="0"/>
              </a:spcAft>
              <a:buNone/>
            </a:pPr>
            <a:r>
              <a:rPr lang="en">
                <a:solidFill>
                  <a:schemeClr val="dk1"/>
                </a:solidFill>
                <a:latin typeface="Instrument Sans"/>
                <a:ea typeface="Instrument Sans"/>
                <a:cs typeface="Instrument Sans"/>
                <a:sym typeface="Instrument Sans"/>
              </a:rPr>
              <a:t>772k Diseased cells</a:t>
            </a:r>
            <a:endParaRPr>
              <a:solidFill>
                <a:schemeClr val="dk1"/>
              </a:solidFill>
              <a:latin typeface="Instrument Sans"/>
              <a:ea typeface="Instrument Sans"/>
              <a:cs typeface="Instrument Sans"/>
              <a:sym typeface="Instrument Sans"/>
            </a:endParaRPr>
          </a:p>
        </p:txBody>
      </p:sp>
      <p:cxnSp>
        <p:nvCxnSpPr>
          <p:cNvPr id="176" name="Google Shape;176;p31"/>
          <p:cNvCxnSpPr>
            <a:stCxn id="173" idx="3"/>
          </p:cNvCxnSpPr>
          <p:nvPr/>
        </p:nvCxnSpPr>
        <p:spPr>
          <a:xfrm>
            <a:off x="4025519" y="2712834"/>
            <a:ext cx="891600" cy="0"/>
          </a:xfrm>
          <a:prstGeom prst="straightConnector1">
            <a:avLst/>
          </a:prstGeom>
          <a:noFill/>
          <a:ln cap="flat" cmpd="sng" w="29225">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2"/>
          <p:cNvPicPr preferRelativeResize="0"/>
          <p:nvPr/>
        </p:nvPicPr>
        <p:blipFill rotWithShape="1">
          <a:blip r:embed="rId3">
            <a:alphaModFix/>
          </a:blip>
          <a:srcRect b="0" l="0" r="0" t="8274"/>
          <a:stretch/>
        </p:blipFill>
        <p:spPr>
          <a:xfrm>
            <a:off x="346737" y="1641787"/>
            <a:ext cx="4409564" cy="2458396"/>
          </a:xfrm>
          <a:prstGeom prst="rect">
            <a:avLst/>
          </a:prstGeom>
          <a:noFill/>
          <a:ln>
            <a:noFill/>
          </a:ln>
        </p:spPr>
      </p:pic>
      <p:sp>
        <p:nvSpPr>
          <p:cNvPr id="182" name="Google Shape;182;p32"/>
          <p:cNvSpPr/>
          <p:nvPr/>
        </p:nvSpPr>
        <p:spPr>
          <a:xfrm>
            <a:off x="7671255" y="1413145"/>
            <a:ext cx="756000" cy="372900"/>
          </a:xfrm>
          <a:prstGeom prst="rect">
            <a:avLst/>
          </a:prstGeom>
          <a:solidFill>
            <a:srgbClr val="FFFFFF"/>
          </a:solidFill>
          <a:ln>
            <a:noFill/>
          </a:ln>
        </p:spPr>
        <p:txBody>
          <a:bodyPr anchorCtr="0" anchor="ctr" bIns="52800" lIns="52800" spcFirstLastPara="1" rIns="52800" wrap="square" tIns="52800">
            <a:noAutofit/>
          </a:bodyPr>
          <a:lstStyle/>
          <a:p>
            <a:pPr indent="0" lvl="0" marL="0" rtl="0" algn="ctr">
              <a:spcBef>
                <a:spcPts val="0"/>
              </a:spcBef>
              <a:spcAft>
                <a:spcPts val="0"/>
              </a:spcAft>
              <a:buNone/>
            </a:pPr>
            <a:r>
              <a:t/>
            </a:r>
            <a:endParaRPr sz="808"/>
          </a:p>
        </p:txBody>
      </p:sp>
      <p:pic>
        <p:nvPicPr>
          <p:cNvPr id="183" name="Google Shape;183;p32"/>
          <p:cNvPicPr preferRelativeResize="0"/>
          <p:nvPr/>
        </p:nvPicPr>
        <p:blipFill rotWithShape="1">
          <a:blip r:embed="rId4">
            <a:alphaModFix/>
          </a:blip>
          <a:srcRect b="0" l="0" r="0" t="0"/>
          <a:stretch/>
        </p:blipFill>
        <p:spPr>
          <a:xfrm>
            <a:off x="4875087" y="320817"/>
            <a:ext cx="3856599" cy="2396881"/>
          </a:xfrm>
          <a:prstGeom prst="rect">
            <a:avLst/>
          </a:prstGeom>
          <a:noFill/>
          <a:ln>
            <a:noFill/>
          </a:ln>
        </p:spPr>
      </p:pic>
      <p:cxnSp>
        <p:nvCxnSpPr>
          <p:cNvPr id="184" name="Google Shape;184;p32"/>
          <p:cNvCxnSpPr/>
          <p:nvPr/>
        </p:nvCxnSpPr>
        <p:spPr>
          <a:xfrm flipH="1" rot="10800000">
            <a:off x="6372745" y="1042739"/>
            <a:ext cx="318900" cy="281400"/>
          </a:xfrm>
          <a:prstGeom prst="straightConnector1">
            <a:avLst/>
          </a:prstGeom>
          <a:noFill/>
          <a:ln cap="flat" cmpd="sng" w="30875">
            <a:solidFill>
              <a:schemeClr val="dk1"/>
            </a:solidFill>
            <a:prstDash val="solid"/>
            <a:round/>
            <a:headEnd len="med" w="med" type="none"/>
            <a:tailEnd len="med" w="med" type="triangle"/>
          </a:ln>
        </p:spPr>
      </p:cxnSp>
      <p:cxnSp>
        <p:nvCxnSpPr>
          <p:cNvPr id="185" name="Google Shape;185;p32"/>
          <p:cNvCxnSpPr/>
          <p:nvPr/>
        </p:nvCxnSpPr>
        <p:spPr>
          <a:xfrm>
            <a:off x="6348906" y="1722508"/>
            <a:ext cx="366900" cy="27900"/>
          </a:xfrm>
          <a:prstGeom prst="straightConnector1">
            <a:avLst/>
          </a:prstGeom>
          <a:noFill/>
          <a:ln cap="flat" cmpd="sng" w="30875">
            <a:solidFill>
              <a:schemeClr val="dk1"/>
            </a:solidFill>
            <a:prstDash val="solid"/>
            <a:round/>
            <a:headEnd len="med" w="med" type="none"/>
            <a:tailEnd len="med" w="med" type="triangle"/>
          </a:ln>
        </p:spPr>
      </p:cxnSp>
      <p:sp>
        <p:nvSpPr>
          <p:cNvPr id="186" name="Google Shape;186;p32"/>
          <p:cNvSpPr/>
          <p:nvPr/>
        </p:nvSpPr>
        <p:spPr>
          <a:xfrm>
            <a:off x="3758571" y="3168278"/>
            <a:ext cx="798600" cy="214800"/>
          </a:xfrm>
          <a:prstGeom prst="rect">
            <a:avLst/>
          </a:prstGeom>
          <a:solidFill>
            <a:schemeClr val="lt1"/>
          </a:solidFill>
          <a:ln>
            <a:noFill/>
          </a:ln>
        </p:spPr>
        <p:txBody>
          <a:bodyPr anchorCtr="0" anchor="ctr" bIns="131200" lIns="131200" spcFirstLastPara="1" rIns="131200" wrap="square" tIns="131200">
            <a:noAutofit/>
          </a:bodyPr>
          <a:lstStyle/>
          <a:p>
            <a:pPr indent="0" lvl="0" marL="0" rtl="0" algn="ctr">
              <a:spcBef>
                <a:spcPts val="0"/>
              </a:spcBef>
              <a:spcAft>
                <a:spcPts val="0"/>
              </a:spcAft>
              <a:buNone/>
            </a:pPr>
            <a:r>
              <a:t/>
            </a:r>
            <a:endParaRPr sz="2009">
              <a:latin typeface="Instrument Sans"/>
              <a:ea typeface="Instrument Sans"/>
              <a:cs typeface="Instrument Sans"/>
              <a:sym typeface="Instrument Sans"/>
            </a:endParaRPr>
          </a:p>
        </p:txBody>
      </p:sp>
      <p:pic>
        <p:nvPicPr>
          <p:cNvPr id="187" name="Google Shape;187;p32"/>
          <p:cNvPicPr preferRelativeResize="0"/>
          <p:nvPr/>
        </p:nvPicPr>
        <p:blipFill>
          <a:blip r:embed="rId5">
            <a:alphaModFix/>
          </a:blip>
          <a:stretch>
            <a:fillRect/>
          </a:stretch>
        </p:blipFill>
        <p:spPr>
          <a:xfrm>
            <a:off x="4756300" y="2959776"/>
            <a:ext cx="4266982" cy="1977225"/>
          </a:xfrm>
          <a:prstGeom prst="rect">
            <a:avLst/>
          </a:prstGeom>
          <a:noFill/>
          <a:ln>
            <a:noFill/>
          </a:ln>
        </p:spPr>
      </p:pic>
      <p:pic>
        <p:nvPicPr>
          <p:cNvPr id="188" name="Google Shape;188;p32"/>
          <p:cNvPicPr preferRelativeResize="0"/>
          <p:nvPr/>
        </p:nvPicPr>
        <p:blipFill rotWithShape="1">
          <a:blip r:embed="rId6">
            <a:alphaModFix/>
          </a:blip>
          <a:srcRect b="2994" l="9371" r="0" t="1368"/>
          <a:stretch/>
        </p:blipFill>
        <p:spPr>
          <a:xfrm>
            <a:off x="258300" y="1562964"/>
            <a:ext cx="3742336" cy="2485768"/>
          </a:xfrm>
          <a:prstGeom prst="rect">
            <a:avLst/>
          </a:prstGeom>
          <a:noFill/>
          <a:ln>
            <a:noFill/>
          </a:ln>
        </p:spPr>
      </p:pic>
      <p:sp>
        <p:nvSpPr>
          <p:cNvPr id="189" name="Google Shape;189;p32"/>
          <p:cNvSpPr txBox="1"/>
          <p:nvPr>
            <p:ph type="title"/>
          </p:nvPr>
        </p:nvSpPr>
        <p:spPr>
          <a:xfrm>
            <a:off x="365275" y="320825"/>
            <a:ext cx="4045800" cy="10875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700">
                <a:solidFill>
                  <a:srgbClr val="9467BD"/>
                </a:solidFill>
              </a:rPr>
              <a:t>Lymphocytes</a:t>
            </a:r>
            <a:r>
              <a:rPr b="1" lang="en" sz="1700"/>
              <a:t> and </a:t>
            </a:r>
            <a:r>
              <a:rPr b="1" lang="en" sz="1700">
                <a:solidFill>
                  <a:srgbClr val="2DA02D"/>
                </a:solidFill>
              </a:rPr>
              <a:t>Myeloid</a:t>
            </a:r>
            <a:r>
              <a:rPr b="1" lang="en" sz="1700"/>
              <a:t> cell proportions are increased in the </a:t>
            </a:r>
            <a:r>
              <a:rPr b="1" lang="en" sz="1700">
                <a:solidFill>
                  <a:srgbClr val="FFA500"/>
                </a:solidFill>
              </a:rPr>
              <a:t>Portal Region </a:t>
            </a:r>
            <a:r>
              <a:rPr b="1" lang="en" sz="1700"/>
              <a:t>of diseased livers</a:t>
            </a:r>
            <a:endParaRPr b="1" sz="1700"/>
          </a:p>
        </p:txBody>
      </p:sp>
      <p:sp>
        <p:nvSpPr>
          <p:cNvPr id="190" name="Google Shape;190;p32"/>
          <p:cNvSpPr txBox="1"/>
          <p:nvPr>
            <p:ph type="title"/>
          </p:nvPr>
        </p:nvSpPr>
        <p:spPr>
          <a:xfrm>
            <a:off x="365275" y="4247600"/>
            <a:ext cx="4045800" cy="6894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700">
                <a:solidFill>
                  <a:srgbClr val="9467BD"/>
                </a:solidFill>
              </a:rPr>
              <a:t>Lymphocytes</a:t>
            </a:r>
            <a:r>
              <a:rPr b="1" lang="en" sz="1700"/>
              <a:t> and </a:t>
            </a:r>
            <a:r>
              <a:rPr b="1" lang="en" sz="1700">
                <a:solidFill>
                  <a:srgbClr val="2DA02D"/>
                </a:solidFill>
              </a:rPr>
              <a:t>Myeloid</a:t>
            </a:r>
            <a:r>
              <a:rPr b="1" lang="en" sz="1700"/>
              <a:t> cell proportions vary across patients</a:t>
            </a:r>
            <a:endParaRPr b="1"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nvSpPr>
        <p:spPr>
          <a:xfrm>
            <a:off x="311700" y="443650"/>
            <a:ext cx="8520600" cy="722700"/>
          </a:xfrm>
          <a:prstGeom prst="rect">
            <a:avLst/>
          </a:prstGeom>
          <a:solidFill>
            <a:srgbClr val="EEEEEE"/>
          </a:solidFill>
          <a:ln>
            <a:noFill/>
          </a:ln>
        </p:spPr>
        <p:txBody>
          <a:bodyPr anchorCtr="0" anchor="b" bIns="91425" lIns="91425" spcFirstLastPara="1" rIns="91425" wrap="square" tIns="91425">
            <a:normAutofit lnSpcReduction="10000"/>
          </a:bodyPr>
          <a:lstStyle/>
          <a:p>
            <a:pPr indent="0" lvl="0" marL="0" rtl="0" algn="ctr">
              <a:spcBef>
                <a:spcPts val="0"/>
              </a:spcBef>
              <a:spcAft>
                <a:spcPts val="0"/>
              </a:spcAft>
              <a:buNone/>
            </a:pPr>
            <a:r>
              <a:rPr b="1" lang="en" sz="1920">
                <a:solidFill>
                  <a:schemeClr val="dk1"/>
                </a:solidFill>
                <a:latin typeface="Instrument Sans"/>
                <a:ea typeface="Instrument Sans"/>
                <a:cs typeface="Instrument Sans"/>
                <a:sym typeface="Instrument Sans"/>
              </a:rPr>
              <a:t>Can we </a:t>
            </a:r>
            <a:r>
              <a:rPr b="1" lang="en" sz="1920">
                <a:solidFill>
                  <a:schemeClr val="dk1"/>
                </a:solidFill>
                <a:latin typeface="Instrument Sans"/>
                <a:ea typeface="Instrument Sans"/>
                <a:cs typeface="Instrument Sans"/>
                <a:sym typeface="Instrument Sans"/>
              </a:rPr>
              <a:t>correlate spatial differences to patient condition and identify clinically relevant patient groups</a:t>
            </a:r>
            <a:r>
              <a:rPr b="1" lang="en" sz="1920">
                <a:solidFill>
                  <a:schemeClr val="dk1"/>
                </a:solidFill>
                <a:latin typeface="Instrument Sans"/>
                <a:ea typeface="Instrument Sans"/>
                <a:cs typeface="Instrument Sans"/>
                <a:sym typeface="Instrument Sans"/>
              </a:rPr>
              <a:t>?</a:t>
            </a:r>
            <a:endParaRPr b="1" sz="1920">
              <a:solidFill>
                <a:schemeClr val="dk1"/>
              </a:solidFill>
              <a:latin typeface="Instrument Sans"/>
              <a:ea typeface="Instrument Sans"/>
              <a:cs typeface="Instrument Sans"/>
              <a:sym typeface="Instrument Sans"/>
            </a:endParaRPr>
          </a:p>
        </p:txBody>
      </p:sp>
      <p:graphicFrame>
        <p:nvGraphicFramePr>
          <p:cNvPr id="196" name="Google Shape;196;p33"/>
          <p:cNvGraphicFramePr/>
          <p:nvPr/>
        </p:nvGraphicFramePr>
        <p:xfrm>
          <a:off x="2761625" y="2284175"/>
          <a:ext cx="3000000" cy="3000000"/>
        </p:xfrm>
        <a:graphic>
          <a:graphicData uri="http://schemas.openxmlformats.org/drawingml/2006/table">
            <a:tbl>
              <a:tblPr>
                <a:noFill/>
                <a:tableStyleId>{90512C5F-41BD-49D8-A885-8C5C37D59C2E}</a:tableStyleId>
              </a:tblPr>
              <a:tblGrid>
                <a:gridCol w="625100"/>
                <a:gridCol w="625100"/>
                <a:gridCol w="713900"/>
                <a:gridCol w="678375"/>
                <a:gridCol w="382850"/>
              </a:tblGrid>
              <a:tr h="321525">
                <a:tc>
                  <a:txBody>
                    <a:bodyPr/>
                    <a:lstStyle/>
                    <a:p>
                      <a:pPr indent="0" lvl="0" marL="0" rtl="0" algn="l">
                        <a:spcBef>
                          <a:spcPts val="0"/>
                        </a:spcBef>
                        <a:spcAft>
                          <a:spcPts val="0"/>
                        </a:spcAft>
                        <a:buNone/>
                      </a:pPr>
                      <a:r>
                        <a:rPr b="1" lang="en" sz="800"/>
                        <a:t>Patient ID</a:t>
                      </a:r>
                      <a:endParaRPr b="1" sz="800"/>
                    </a:p>
                  </a:txBody>
                  <a:tcPr marT="91425" marB="91425" marR="91425" marL="91425">
                    <a:solidFill>
                      <a:srgbClr val="D0E0E3"/>
                    </a:solidFill>
                  </a:tcPr>
                </a:tc>
                <a:tc>
                  <a:txBody>
                    <a:bodyPr/>
                    <a:lstStyle/>
                    <a:p>
                      <a:pPr indent="0" lvl="0" marL="0" rtl="0" algn="l">
                        <a:spcBef>
                          <a:spcPts val="0"/>
                        </a:spcBef>
                        <a:spcAft>
                          <a:spcPts val="0"/>
                        </a:spcAft>
                        <a:buNone/>
                      </a:pPr>
                      <a:r>
                        <a:rPr b="1" lang="en" sz="500">
                          <a:solidFill>
                            <a:srgbClr val="000000"/>
                          </a:solidFill>
                        </a:rPr>
                        <a:t>Proportion Lymphocytes PP region</a:t>
                      </a:r>
                      <a:endParaRPr b="1" sz="500"/>
                    </a:p>
                  </a:txBody>
                  <a:tcPr marT="91425" marB="91425" marR="91425" marL="91425">
                    <a:solidFill>
                      <a:srgbClr val="EEEEEE"/>
                    </a:solidFill>
                  </a:tcPr>
                </a:tc>
                <a:tc>
                  <a:txBody>
                    <a:bodyPr/>
                    <a:lstStyle/>
                    <a:p>
                      <a:pPr indent="0" lvl="0" marL="0" rtl="0" algn="l">
                        <a:spcBef>
                          <a:spcPts val="0"/>
                        </a:spcBef>
                        <a:spcAft>
                          <a:spcPts val="0"/>
                        </a:spcAft>
                        <a:buNone/>
                      </a:pPr>
                      <a:r>
                        <a:rPr b="1" lang="en" sz="500"/>
                        <a:t>Proportion Lymphocytes PC region</a:t>
                      </a:r>
                      <a:endParaRPr b="1" sz="500"/>
                    </a:p>
                  </a:txBody>
                  <a:tcPr marT="91425" marB="91425" marR="91425" marL="91425">
                    <a:solidFill>
                      <a:srgbClr val="EEEEEE"/>
                    </a:solidFill>
                  </a:tcPr>
                </a:tc>
                <a:tc>
                  <a:txBody>
                    <a:bodyPr/>
                    <a:lstStyle/>
                    <a:p>
                      <a:pPr indent="0" lvl="0" marL="0" rtl="0" algn="l">
                        <a:spcBef>
                          <a:spcPts val="0"/>
                        </a:spcBef>
                        <a:spcAft>
                          <a:spcPts val="0"/>
                        </a:spcAft>
                        <a:buNone/>
                      </a:pPr>
                      <a:r>
                        <a:rPr b="1" lang="en" sz="500">
                          <a:solidFill>
                            <a:srgbClr val="000000"/>
                          </a:solidFill>
                        </a:rPr>
                        <a:t>Proportion Lymphocytes Portal region</a:t>
                      </a:r>
                      <a:endParaRPr b="1" sz="500"/>
                    </a:p>
                  </a:txBody>
                  <a:tcPr marT="91425" marB="91425" marR="91425" marL="91425">
                    <a:solidFill>
                      <a:srgbClr val="EEEEEE"/>
                    </a:solidFill>
                  </a:tcPr>
                </a:tc>
                <a:tc>
                  <a:txBody>
                    <a:bodyPr/>
                    <a:lstStyle/>
                    <a:p>
                      <a:pPr indent="0" lvl="0" marL="0" rtl="0" algn="l">
                        <a:spcBef>
                          <a:spcPts val="0"/>
                        </a:spcBef>
                        <a:spcAft>
                          <a:spcPts val="0"/>
                        </a:spcAft>
                        <a:buNone/>
                      </a:pPr>
                      <a:r>
                        <a:rPr b="1" lang="en" sz="500"/>
                        <a:t>…</a:t>
                      </a:r>
                      <a:endParaRPr b="1" sz="500"/>
                    </a:p>
                  </a:txBody>
                  <a:tcPr marT="91425" marB="91425" marR="91425" marL="91425">
                    <a:solidFill>
                      <a:srgbClr val="EEEEEE"/>
                    </a:solidFill>
                  </a:tcPr>
                </a:tc>
              </a:tr>
              <a:tr h="293925">
                <a:tc>
                  <a:txBody>
                    <a:bodyPr/>
                    <a:lstStyle/>
                    <a:p>
                      <a:pPr indent="0" lvl="0" marL="0" rtl="0" algn="l">
                        <a:spcBef>
                          <a:spcPts val="0"/>
                        </a:spcBef>
                        <a:spcAft>
                          <a:spcPts val="0"/>
                        </a:spcAft>
                        <a:buNone/>
                      </a:pPr>
                      <a:r>
                        <a:rPr lang="en" sz="800"/>
                        <a:t>A1</a:t>
                      </a:r>
                      <a:endParaRPr sz="800"/>
                    </a:p>
                  </a:txBody>
                  <a:tcPr marT="91425" marB="91425" marR="91425" marL="91425">
                    <a:solidFill>
                      <a:srgbClr val="D0E0E3"/>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279725">
                <a:tc>
                  <a:txBody>
                    <a:bodyPr/>
                    <a:lstStyle/>
                    <a:p>
                      <a:pPr indent="0" lvl="0" marL="0" rtl="0" algn="l">
                        <a:spcBef>
                          <a:spcPts val="0"/>
                        </a:spcBef>
                        <a:spcAft>
                          <a:spcPts val="0"/>
                        </a:spcAft>
                        <a:buNone/>
                      </a:pPr>
                      <a:r>
                        <a:rPr lang="en" sz="800"/>
                        <a:t>A2</a:t>
                      </a:r>
                      <a:endParaRPr sz="800"/>
                    </a:p>
                  </a:txBody>
                  <a:tcPr marT="91425" marB="91425" marR="91425" marL="91425">
                    <a:solidFill>
                      <a:srgbClr val="D0E0E3"/>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r h="279725">
                <a:tc>
                  <a:txBody>
                    <a:bodyPr/>
                    <a:lstStyle/>
                    <a:p>
                      <a:pPr indent="0" lvl="0" marL="0" rtl="0" algn="l">
                        <a:spcBef>
                          <a:spcPts val="0"/>
                        </a:spcBef>
                        <a:spcAft>
                          <a:spcPts val="0"/>
                        </a:spcAft>
                        <a:buNone/>
                      </a:pPr>
                      <a:r>
                        <a:rPr lang="en" sz="800"/>
                        <a:t>…</a:t>
                      </a:r>
                      <a:endParaRPr sz="800"/>
                    </a:p>
                  </a:txBody>
                  <a:tcPr marT="91425" marB="91425" marR="91425" marL="91425">
                    <a:solidFill>
                      <a:srgbClr val="D0E0E3"/>
                    </a:solidFill>
                  </a:tcPr>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c>
                  <a:txBody>
                    <a:bodyPr/>
                    <a:lstStyle/>
                    <a:p>
                      <a:pPr indent="0" lvl="0" marL="0" rtl="0" algn="l">
                        <a:spcBef>
                          <a:spcPts val="0"/>
                        </a:spcBef>
                        <a:spcAft>
                          <a:spcPts val="0"/>
                        </a:spcAft>
                        <a:buNone/>
                      </a:pPr>
                      <a:r>
                        <a:t/>
                      </a:r>
                      <a:endParaRPr sz="800"/>
                    </a:p>
                  </a:txBody>
                  <a:tcPr marT="91425" marB="91425" marR="91425" marL="91425"/>
                </a:tc>
              </a:tr>
            </a:tbl>
          </a:graphicData>
        </a:graphic>
      </p:graphicFrame>
      <p:sp>
        <p:nvSpPr>
          <p:cNvPr id="197" name="Google Shape;197;p33"/>
          <p:cNvSpPr txBox="1"/>
          <p:nvPr/>
        </p:nvSpPr>
        <p:spPr>
          <a:xfrm>
            <a:off x="2761613" y="1693463"/>
            <a:ext cx="3025200" cy="384900"/>
          </a:xfrm>
          <a:prstGeom prst="rect">
            <a:avLst/>
          </a:prstGeom>
          <a:solidFill>
            <a:srgbClr val="C9EF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595959"/>
                </a:solidFill>
                <a:latin typeface="Instrument Sans"/>
                <a:ea typeface="Instrument Sans"/>
                <a:cs typeface="Instrument Sans"/>
                <a:sym typeface="Instrument Sans"/>
              </a:rPr>
              <a:t>Patient-Feature Matrix</a:t>
            </a:r>
            <a:endParaRPr b="1" sz="1300">
              <a:solidFill>
                <a:srgbClr val="595959"/>
              </a:solidFill>
              <a:latin typeface="Instrument Sans"/>
              <a:ea typeface="Instrument Sans"/>
              <a:cs typeface="Instrument Sans"/>
              <a:sym typeface="Instrument Sans"/>
            </a:endParaRPr>
          </a:p>
        </p:txBody>
      </p:sp>
      <p:sp>
        <p:nvSpPr>
          <p:cNvPr id="198" name="Google Shape;198;p33"/>
          <p:cNvSpPr/>
          <p:nvPr/>
        </p:nvSpPr>
        <p:spPr>
          <a:xfrm>
            <a:off x="1885304" y="2710863"/>
            <a:ext cx="760200" cy="509100"/>
          </a:xfrm>
          <a:prstGeom prst="rightArrow">
            <a:avLst>
              <a:gd fmla="val 50000" name="adj1"/>
              <a:gd fmla="val 50000" name="adj2"/>
            </a:avLst>
          </a:prstGeom>
          <a:solidFill>
            <a:srgbClr val="2DA02D">
              <a:alpha val="34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 name="Google Shape;199;p33"/>
          <p:cNvSpPr/>
          <p:nvPr/>
        </p:nvSpPr>
        <p:spPr>
          <a:xfrm>
            <a:off x="263789" y="1346725"/>
            <a:ext cx="1670400" cy="1548900"/>
          </a:xfrm>
          <a:prstGeom prst="ellipse">
            <a:avLst/>
          </a:prstGeom>
          <a:solidFill>
            <a:srgbClr val="FE7E7E">
              <a:alpha val="196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000000"/>
                </a:solidFill>
                <a:latin typeface="Instrument Sans"/>
                <a:ea typeface="Instrument Sans"/>
                <a:cs typeface="Instrument Sans"/>
                <a:sym typeface="Instrument Sans"/>
              </a:rPr>
              <a:t>Proportions</a:t>
            </a:r>
            <a:r>
              <a:rPr b="1" lang="en" sz="900">
                <a:latin typeface="Instrument Sans"/>
                <a:ea typeface="Instrument Sans"/>
                <a:cs typeface="Instrument Sans"/>
                <a:sym typeface="Instrument Sans"/>
              </a:rPr>
              <a:t> Data: </a:t>
            </a:r>
            <a:r>
              <a:rPr lang="en" sz="900">
                <a:latin typeface="Instrument Sans"/>
                <a:ea typeface="Instrument Sans"/>
                <a:cs typeface="Instrument Sans"/>
                <a:sym typeface="Instrument Sans"/>
              </a:rPr>
              <a:t>Proportions of cell types per patient</a:t>
            </a:r>
            <a:endParaRPr sz="900">
              <a:latin typeface="Instrument Sans"/>
              <a:ea typeface="Instrument Sans"/>
              <a:cs typeface="Instrument Sans"/>
              <a:sym typeface="Instrument Sans"/>
            </a:endParaRPr>
          </a:p>
        </p:txBody>
      </p:sp>
      <p:sp>
        <p:nvSpPr>
          <p:cNvPr id="200" name="Google Shape;200;p33"/>
          <p:cNvSpPr/>
          <p:nvPr/>
        </p:nvSpPr>
        <p:spPr>
          <a:xfrm>
            <a:off x="263789" y="3013425"/>
            <a:ext cx="1670400" cy="1548900"/>
          </a:xfrm>
          <a:prstGeom prst="ellipse">
            <a:avLst/>
          </a:prstGeom>
          <a:solidFill>
            <a:srgbClr val="9272B1">
              <a:alpha val="284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latin typeface="Instrument Sans"/>
                <a:ea typeface="Instrument Sans"/>
                <a:cs typeface="Instrument Sans"/>
                <a:sym typeface="Instrument Sans"/>
              </a:rPr>
              <a:t>Expression Data: </a:t>
            </a:r>
            <a:r>
              <a:rPr lang="en" sz="900">
                <a:latin typeface="Instrument Sans"/>
                <a:ea typeface="Instrument Sans"/>
                <a:cs typeface="Instrument Sans"/>
                <a:sym typeface="Instrument Sans"/>
              </a:rPr>
              <a:t>Gene module scores of cell types, signaling pathways, AIH genes per patient</a:t>
            </a:r>
            <a:endParaRPr sz="900">
              <a:latin typeface="Instrument Sans"/>
              <a:ea typeface="Instrument Sans"/>
              <a:cs typeface="Instrument Sans"/>
              <a:sym typeface="Instrument Sans"/>
            </a:endParaRPr>
          </a:p>
        </p:txBody>
      </p:sp>
      <p:sp>
        <p:nvSpPr>
          <p:cNvPr id="201" name="Google Shape;201;p33"/>
          <p:cNvSpPr txBox="1"/>
          <p:nvPr/>
        </p:nvSpPr>
        <p:spPr>
          <a:xfrm>
            <a:off x="2761625" y="3830900"/>
            <a:ext cx="3025200" cy="354000"/>
          </a:xfrm>
          <a:prstGeom prst="rect">
            <a:avLst/>
          </a:prstGeom>
          <a:solidFill>
            <a:srgbClr val="D9EAD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rgbClr val="595959"/>
                </a:solidFill>
                <a:latin typeface="Instrument Sans"/>
                <a:ea typeface="Instrument Sans"/>
                <a:cs typeface="Instrument Sans"/>
                <a:sym typeface="Instrument Sans"/>
              </a:rPr>
              <a:t>Total features: 208</a:t>
            </a:r>
            <a:endParaRPr b="1" sz="1100">
              <a:solidFill>
                <a:srgbClr val="595959"/>
              </a:solidFill>
              <a:latin typeface="Instrument Sans"/>
              <a:ea typeface="Instrument Sans"/>
              <a:cs typeface="Instrument Sans"/>
              <a:sym typeface="Instrument Sans"/>
            </a:endParaRPr>
          </a:p>
        </p:txBody>
      </p:sp>
      <p:sp>
        <p:nvSpPr>
          <p:cNvPr id="202" name="Google Shape;202;p33"/>
          <p:cNvSpPr/>
          <p:nvPr/>
        </p:nvSpPr>
        <p:spPr>
          <a:xfrm>
            <a:off x="5944276" y="2700076"/>
            <a:ext cx="760200" cy="509100"/>
          </a:xfrm>
          <a:prstGeom prst="rightArrow">
            <a:avLst>
              <a:gd fmla="val 50000" name="adj1"/>
              <a:gd fmla="val 50000" name="adj2"/>
            </a:avLst>
          </a:prstGeom>
          <a:solidFill>
            <a:srgbClr val="2DA02D">
              <a:alpha val="3481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3" name="Google Shape;203;p33"/>
          <p:cNvSpPr txBox="1"/>
          <p:nvPr/>
        </p:nvSpPr>
        <p:spPr>
          <a:xfrm>
            <a:off x="6775884" y="1693475"/>
            <a:ext cx="2198700" cy="384900"/>
          </a:xfrm>
          <a:prstGeom prst="rect">
            <a:avLst/>
          </a:prstGeom>
          <a:solidFill>
            <a:srgbClr val="C9EFF8"/>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595959"/>
                </a:solidFill>
                <a:latin typeface="Instrument Sans"/>
                <a:ea typeface="Instrument Sans"/>
                <a:cs typeface="Instrument Sans"/>
                <a:sym typeface="Instrument Sans"/>
              </a:rPr>
              <a:t>Patient-Feature UMAP</a:t>
            </a:r>
            <a:endParaRPr b="1" sz="1300">
              <a:solidFill>
                <a:srgbClr val="595959"/>
              </a:solidFill>
              <a:latin typeface="Instrument Sans"/>
              <a:ea typeface="Instrument Sans"/>
              <a:cs typeface="Instrument Sans"/>
              <a:sym typeface="Instrument Sans"/>
            </a:endParaRPr>
          </a:p>
        </p:txBody>
      </p:sp>
      <p:pic>
        <p:nvPicPr>
          <p:cNvPr id="204" name="Google Shape;204;p33"/>
          <p:cNvPicPr preferRelativeResize="0"/>
          <p:nvPr/>
        </p:nvPicPr>
        <p:blipFill>
          <a:blip r:embed="rId3">
            <a:alphaModFix/>
          </a:blip>
          <a:stretch>
            <a:fillRect/>
          </a:stretch>
        </p:blipFill>
        <p:spPr>
          <a:xfrm>
            <a:off x="6716338" y="2205375"/>
            <a:ext cx="2317774" cy="19242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4"/>
          <p:cNvPicPr preferRelativeResize="0"/>
          <p:nvPr/>
        </p:nvPicPr>
        <p:blipFill>
          <a:blip r:embed="rId3">
            <a:alphaModFix/>
          </a:blip>
          <a:stretch>
            <a:fillRect/>
          </a:stretch>
        </p:blipFill>
        <p:spPr>
          <a:xfrm>
            <a:off x="4419300" y="1752788"/>
            <a:ext cx="4551199" cy="2397800"/>
          </a:xfrm>
          <a:prstGeom prst="rect">
            <a:avLst/>
          </a:prstGeom>
          <a:noFill/>
          <a:ln>
            <a:noFill/>
          </a:ln>
        </p:spPr>
      </p:pic>
      <p:sp>
        <p:nvSpPr>
          <p:cNvPr id="210" name="Google Shape;210;p34"/>
          <p:cNvSpPr txBox="1"/>
          <p:nvPr/>
        </p:nvSpPr>
        <p:spPr>
          <a:xfrm>
            <a:off x="311700" y="579550"/>
            <a:ext cx="8520600" cy="533100"/>
          </a:xfrm>
          <a:prstGeom prst="rect">
            <a:avLst/>
          </a:prstGeom>
          <a:solidFill>
            <a:srgbClr val="EEEEEE"/>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1920">
                <a:solidFill>
                  <a:schemeClr val="dk1"/>
                </a:solidFill>
                <a:latin typeface="Instrument Sans"/>
                <a:ea typeface="Instrument Sans"/>
                <a:cs typeface="Instrument Sans"/>
                <a:sym typeface="Instrument Sans"/>
              </a:rPr>
              <a:t>Patient Groups roughly correspond with clinical diagnosis</a:t>
            </a:r>
            <a:endParaRPr b="1" sz="1920">
              <a:solidFill>
                <a:schemeClr val="dk1"/>
              </a:solidFill>
              <a:latin typeface="Instrument Sans"/>
              <a:ea typeface="Instrument Sans"/>
              <a:cs typeface="Instrument Sans"/>
              <a:sym typeface="Instrument Sans"/>
            </a:endParaRPr>
          </a:p>
        </p:txBody>
      </p:sp>
      <p:pic>
        <p:nvPicPr>
          <p:cNvPr id="211" name="Google Shape;211;p34"/>
          <p:cNvPicPr preferRelativeResize="0"/>
          <p:nvPr/>
        </p:nvPicPr>
        <p:blipFill>
          <a:blip r:embed="rId4">
            <a:alphaModFix/>
          </a:blip>
          <a:stretch>
            <a:fillRect/>
          </a:stretch>
        </p:blipFill>
        <p:spPr>
          <a:xfrm>
            <a:off x="311700" y="1370125"/>
            <a:ext cx="4003951" cy="3324151"/>
          </a:xfrm>
          <a:prstGeom prst="rect">
            <a:avLst/>
          </a:prstGeom>
          <a:noFill/>
          <a:ln>
            <a:noFill/>
          </a:ln>
        </p:spPr>
      </p:pic>
      <p:sp>
        <p:nvSpPr>
          <p:cNvPr id="212" name="Google Shape;212;p34"/>
          <p:cNvSpPr/>
          <p:nvPr/>
        </p:nvSpPr>
        <p:spPr>
          <a:xfrm>
            <a:off x="580050" y="1688825"/>
            <a:ext cx="3103675" cy="2525725"/>
          </a:xfrm>
          <a:custGeom>
            <a:rect b="b" l="l" r="r" t="t"/>
            <a:pathLst>
              <a:path extrusionOk="0" h="101029" w="124147">
                <a:moveTo>
                  <a:pt x="95893" y="39812"/>
                </a:moveTo>
                <a:lnTo>
                  <a:pt x="95893" y="29538"/>
                </a:lnTo>
                <a:lnTo>
                  <a:pt x="95893" y="8133"/>
                </a:lnTo>
                <a:lnTo>
                  <a:pt x="77913" y="0"/>
                </a:lnTo>
                <a:lnTo>
                  <a:pt x="53512" y="16695"/>
                </a:lnTo>
                <a:lnTo>
                  <a:pt x="45378" y="40668"/>
                </a:lnTo>
                <a:lnTo>
                  <a:pt x="6422" y="49658"/>
                </a:lnTo>
                <a:lnTo>
                  <a:pt x="0" y="63785"/>
                </a:lnTo>
                <a:lnTo>
                  <a:pt x="25686" y="101029"/>
                </a:lnTo>
                <a:lnTo>
                  <a:pt x="70207" y="101029"/>
                </a:lnTo>
                <a:lnTo>
                  <a:pt x="82622" y="77056"/>
                </a:lnTo>
                <a:lnTo>
                  <a:pt x="124147" y="64641"/>
                </a:lnTo>
                <a:lnTo>
                  <a:pt x="122434" y="52227"/>
                </a:lnTo>
                <a:close/>
              </a:path>
            </a:pathLst>
          </a:custGeom>
          <a:solidFill>
            <a:schemeClr val="lt1"/>
          </a:solidFill>
          <a:ln>
            <a:noFill/>
          </a:ln>
        </p:spPr>
      </p:sp>
      <p:sp>
        <p:nvSpPr>
          <p:cNvPr id="213" name="Google Shape;213;p34"/>
          <p:cNvSpPr/>
          <p:nvPr/>
        </p:nvSpPr>
        <p:spPr>
          <a:xfrm>
            <a:off x="4732775" y="1791550"/>
            <a:ext cx="428100" cy="1623600"/>
          </a:xfrm>
          <a:prstGeom prst="rect">
            <a:avLst/>
          </a:prstGeom>
          <a:solidFill>
            <a:srgbClr val="D52828">
              <a:alpha val="17720"/>
            </a:srgbClr>
          </a:solidFill>
          <a:ln cap="flat" cmpd="sng" w="28575">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214" name="Google Shape;214;p34"/>
          <p:cNvSpPr/>
          <p:nvPr/>
        </p:nvSpPr>
        <p:spPr>
          <a:xfrm>
            <a:off x="7890175" y="1791550"/>
            <a:ext cx="428100" cy="1654200"/>
          </a:xfrm>
          <a:prstGeom prst="rect">
            <a:avLst/>
          </a:prstGeom>
          <a:solidFill>
            <a:srgbClr val="D52828">
              <a:alpha val="17720"/>
            </a:srgbClr>
          </a:solidFill>
          <a:ln cap="flat" cmpd="sng" w="28575">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35"/>
          <p:cNvPicPr preferRelativeResize="0"/>
          <p:nvPr/>
        </p:nvPicPr>
        <p:blipFill rotWithShape="1">
          <a:blip r:embed="rId3">
            <a:alphaModFix/>
          </a:blip>
          <a:srcRect b="77474" l="85883" r="0" t="0"/>
          <a:stretch/>
        </p:blipFill>
        <p:spPr>
          <a:xfrm>
            <a:off x="3465056" y="3591525"/>
            <a:ext cx="1132698" cy="1045801"/>
          </a:xfrm>
          <a:prstGeom prst="rect">
            <a:avLst/>
          </a:prstGeom>
          <a:noFill/>
          <a:ln>
            <a:noFill/>
          </a:ln>
        </p:spPr>
      </p:pic>
      <p:pic>
        <p:nvPicPr>
          <p:cNvPr id="220" name="Google Shape;220;p35"/>
          <p:cNvPicPr preferRelativeResize="0"/>
          <p:nvPr/>
        </p:nvPicPr>
        <p:blipFill rotWithShape="1">
          <a:blip r:embed="rId3">
            <a:alphaModFix/>
          </a:blip>
          <a:srcRect b="0" l="0" r="12930" t="0"/>
          <a:stretch/>
        </p:blipFill>
        <p:spPr>
          <a:xfrm>
            <a:off x="534400" y="3083885"/>
            <a:ext cx="3005302" cy="1997116"/>
          </a:xfrm>
          <a:prstGeom prst="rect">
            <a:avLst/>
          </a:prstGeom>
          <a:noFill/>
          <a:ln>
            <a:noFill/>
          </a:ln>
        </p:spPr>
      </p:pic>
      <p:pic>
        <p:nvPicPr>
          <p:cNvPr id="221" name="Google Shape;221;p35"/>
          <p:cNvPicPr preferRelativeResize="0"/>
          <p:nvPr/>
        </p:nvPicPr>
        <p:blipFill rotWithShape="1">
          <a:blip r:embed="rId4">
            <a:alphaModFix/>
          </a:blip>
          <a:srcRect b="39532" l="62842" r="0" t="26685"/>
          <a:stretch/>
        </p:blipFill>
        <p:spPr>
          <a:xfrm>
            <a:off x="534407" y="817650"/>
            <a:ext cx="2725888" cy="1781286"/>
          </a:xfrm>
          <a:prstGeom prst="rect">
            <a:avLst/>
          </a:prstGeom>
          <a:noFill/>
          <a:ln>
            <a:noFill/>
          </a:ln>
        </p:spPr>
      </p:pic>
      <p:pic>
        <p:nvPicPr>
          <p:cNvPr id="222" name="Google Shape;222;p35"/>
          <p:cNvPicPr preferRelativeResize="0"/>
          <p:nvPr/>
        </p:nvPicPr>
        <p:blipFill rotWithShape="1">
          <a:blip r:embed="rId5">
            <a:alphaModFix/>
          </a:blip>
          <a:srcRect b="0" l="17844" r="0" t="0"/>
          <a:stretch/>
        </p:blipFill>
        <p:spPr>
          <a:xfrm rot="-5400000">
            <a:off x="1163788" y="2132187"/>
            <a:ext cx="540700" cy="1352726"/>
          </a:xfrm>
          <a:prstGeom prst="rect">
            <a:avLst/>
          </a:prstGeom>
          <a:noFill/>
          <a:ln>
            <a:noFill/>
          </a:ln>
        </p:spPr>
      </p:pic>
      <p:sp>
        <p:nvSpPr>
          <p:cNvPr id="223" name="Google Shape;223;p35"/>
          <p:cNvSpPr/>
          <p:nvPr/>
        </p:nvSpPr>
        <p:spPr>
          <a:xfrm>
            <a:off x="1816985" y="1046058"/>
            <a:ext cx="161100" cy="1456200"/>
          </a:xfrm>
          <a:prstGeom prst="roundRect">
            <a:avLst>
              <a:gd fmla="val 16667" name="adj"/>
            </a:avLst>
          </a:prstGeom>
          <a:noFill/>
          <a:ln cap="flat" cmpd="sng" w="33675">
            <a:solidFill>
              <a:srgbClr val="D62727"/>
            </a:solidFill>
            <a:prstDash val="solid"/>
            <a:round/>
            <a:headEnd len="sm" w="sm" type="none"/>
            <a:tailEnd len="sm" w="sm" type="none"/>
          </a:ln>
        </p:spPr>
        <p:txBody>
          <a:bodyPr anchorCtr="0" anchor="ctr" bIns="80800" lIns="80800" spcFirstLastPara="1" rIns="80800" wrap="square" tIns="80800">
            <a:noAutofit/>
          </a:bodyPr>
          <a:lstStyle/>
          <a:p>
            <a:pPr indent="0" lvl="0" marL="0" rtl="0" algn="ctr">
              <a:spcBef>
                <a:spcPts val="0"/>
              </a:spcBef>
              <a:spcAft>
                <a:spcPts val="0"/>
              </a:spcAft>
              <a:buNone/>
            </a:pPr>
            <a:r>
              <a:t/>
            </a:r>
            <a:endParaRPr sz="1237">
              <a:latin typeface="Instrument Sans"/>
              <a:ea typeface="Instrument Sans"/>
              <a:cs typeface="Instrument Sans"/>
              <a:sym typeface="Instrument Sans"/>
            </a:endParaRPr>
          </a:p>
        </p:txBody>
      </p:sp>
      <p:sp>
        <p:nvSpPr>
          <p:cNvPr id="224" name="Google Shape;224;p35"/>
          <p:cNvSpPr txBox="1"/>
          <p:nvPr/>
        </p:nvSpPr>
        <p:spPr>
          <a:xfrm>
            <a:off x="311700" y="198550"/>
            <a:ext cx="8520600" cy="533100"/>
          </a:xfrm>
          <a:prstGeom prst="rect">
            <a:avLst/>
          </a:prstGeom>
          <a:solidFill>
            <a:srgbClr val="EEEEEE"/>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1920">
                <a:solidFill>
                  <a:schemeClr val="dk1"/>
                </a:solidFill>
                <a:latin typeface="Instrument Sans"/>
                <a:ea typeface="Instrument Sans"/>
                <a:cs typeface="Instrument Sans"/>
                <a:sym typeface="Instrument Sans"/>
              </a:rPr>
              <a:t>AIH-Dominant group displays the highest level of inflammation</a:t>
            </a:r>
            <a:endParaRPr b="1" sz="1920">
              <a:solidFill>
                <a:schemeClr val="dk1"/>
              </a:solidFill>
              <a:latin typeface="Instrument Sans"/>
              <a:ea typeface="Instrument Sans"/>
              <a:cs typeface="Instrument Sans"/>
              <a:sym typeface="Instrument Sans"/>
            </a:endParaRPr>
          </a:p>
        </p:txBody>
      </p:sp>
      <p:pic>
        <p:nvPicPr>
          <p:cNvPr id="225" name="Google Shape;225;p35"/>
          <p:cNvPicPr preferRelativeResize="0"/>
          <p:nvPr/>
        </p:nvPicPr>
        <p:blipFill rotWithShape="1">
          <a:blip r:embed="rId4">
            <a:alphaModFix/>
          </a:blip>
          <a:srcRect b="2708" l="30043" r="45105" t="61849"/>
          <a:stretch/>
        </p:blipFill>
        <p:spPr>
          <a:xfrm>
            <a:off x="3153625" y="817601"/>
            <a:ext cx="2155648" cy="2209800"/>
          </a:xfrm>
          <a:prstGeom prst="rect">
            <a:avLst/>
          </a:prstGeom>
          <a:noFill/>
          <a:ln>
            <a:noFill/>
          </a:ln>
        </p:spPr>
      </p:pic>
      <p:sp>
        <p:nvSpPr>
          <p:cNvPr id="226" name="Google Shape;226;p35"/>
          <p:cNvSpPr/>
          <p:nvPr/>
        </p:nvSpPr>
        <p:spPr>
          <a:xfrm>
            <a:off x="4723439" y="1161361"/>
            <a:ext cx="197847" cy="1185402"/>
          </a:xfrm>
          <a:prstGeom prst="roundRect">
            <a:avLst>
              <a:gd fmla="val 16667" name="adj"/>
            </a:avLst>
          </a:prstGeom>
          <a:noFill/>
          <a:ln cap="flat" cmpd="sng" w="32400">
            <a:solidFill>
              <a:srgbClr val="D62727"/>
            </a:solidFill>
            <a:prstDash val="solid"/>
            <a:round/>
            <a:headEnd len="sm" w="sm" type="none"/>
            <a:tailEnd len="sm" w="sm" type="none"/>
          </a:ln>
        </p:spPr>
        <p:txBody>
          <a:bodyPr anchorCtr="0" anchor="ctr" bIns="77800" lIns="77800" spcFirstLastPara="1" rIns="77800" wrap="square" tIns="77800">
            <a:noAutofit/>
          </a:bodyPr>
          <a:lstStyle/>
          <a:p>
            <a:pPr indent="0" lvl="0" marL="0" rtl="0" algn="ctr">
              <a:spcBef>
                <a:spcPts val="0"/>
              </a:spcBef>
              <a:spcAft>
                <a:spcPts val="0"/>
              </a:spcAft>
              <a:buNone/>
            </a:pPr>
            <a:r>
              <a:t/>
            </a:r>
            <a:endParaRPr sz="1192">
              <a:latin typeface="Instrument Sans"/>
              <a:ea typeface="Instrument Sans"/>
              <a:cs typeface="Instrument Sans"/>
              <a:sym typeface="Instrument Sans"/>
            </a:endParaRPr>
          </a:p>
        </p:txBody>
      </p:sp>
      <p:sp>
        <p:nvSpPr>
          <p:cNvPr id="227" name="Google Shape;227;p35"/>
          <p:cNvSpPr/>
          <p:nvPr/>
        </p:nvSpPr>
        <p:spPr>
          <a:xfrm>
            <a:off x="780815" y="3140628"/>
            <a:ext cx="311400" cy="1772100"/>
          </a:xfrm>
          <a:prstGeom prst="roundRect">
            <a:avLst>
              <a:gd fmla="val 16667" name="adj"/>
            </a:avLst>
          </a:prstGeom>
          <a:noFill/>
          <a:ln cap="flat" cmpd="sng" w="30875">
            <a:solidFill>
              <a:srgbClr val="D62727"/>
            </a:solidFill>
            <a:prstDash val="solid"/>
            <a:round/>
            <a:headEnd len="sm" w="sm" type="none"/>
            <a:tailEnd len="sm" w="sm" type="none"/>
          </a:ln>
        </p:spPr>
        <p:txBody>
          <a:bodyPr anchorCtr="0" anchor="ctr" bIns="39575" lIns="39575" spcFirstLastPara="1" rIns="39575" wrap="square" tIns="39575">
            <a:noAutofit/>
          </a:bodyPr>
          <a:lstStyle/>
          <a:p>
            <a:pPr indent="0" lvl="0" marL="0" rtl="0" algn="ctr">
              <a:spcBef>
                <a:spcPts val="0"/>
              </a:spcBef>
              <a:spcAft>
                <a:spcPts val="0"/>
              </a:spcAft>
              <a:buNone/>
            </a:pPr>
            <a:r>
              <a:t/>
            </a:r>
            <a:endParaRPr sz="606">
              <a:latin typeface="Instrument Sans"/>
              <a:ea typeface="Instrument Sans"/>
              <a:cs typeface="Instrument Sans"/>
              <a:sym typeface="Instrument Sans"/>
            </a:endParaRPr>
          </a:p>
        </p:txBody>
      </p:sp>
      <p:sp>
        <p:nvSpPr>
          <p:cNvPr id="228" name="Google Shape;228;p35"/>
          <p:cNvSpPr txBox="1"/>
          <p:nvPr>
            <p:ph type="title"/>
          </p:nvPr>
        </p:nvSpPr>
        <p:spPr>
          <a:xfrm>
            <a:off x="5309275" y="3458925"/>
            <a:ext cx="3538500" cy="13110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700">
                <a:solidFill>
                  <a:srgbClr val="9467BD"/>
                </a:solidFill>
              </a:rPr>
              <a:t>Lymphocytes</a:t>
            </a:r>
            <a:r>
              <a:rPr b="1" lang="en" sz="1700"/>
              <a:t> and </a:t>
            </a:r>
            <a:r>
              <a:rPr b="1" lang="en" sz="1700">
                <a:solidFill>
                  <a:srgbClr val="2DA02D"/>
                </a:solidFill>
              </a:rPr>
              <a:t>Myeloid</a:t>
            </a:r>
            <a:r>
              <a:rPr b="1" lang="en" sz="1700"/>
              <a:t> cell proportions are increased in the </a:t>
            </a:r>
            <a:r>
              <a:rPr b="1" lang="en" sz="1700">
                <a:solidFill>
                  <a:srgbClr val="FFA500"/>
                </a:solidFill>
              </a:rPr>
              <a:t>Portal Region </a:t>
            </a:r>
            <a:r>
              <a:rPr b="1" lang="en" sz="1700"/>
              <a:t>of </a:t>
            </a:r>
            <a:r>
              <a:rPr b="1" lang="en" sz="1700"/>
              <a:t>the </a:t>
            </a:r>
            <a:r>
              <a:rPr b="1" lang="en" sz="1700"/>
              <a:t>AIH-Dominant livers</a:t>
            </a:r>
            <a:endParaRPr b="1" sz="1700"/>
          </a:p>
        </p:txBody>
      </p:sp>
      <p:sp>
        <p:nvSpPr>
          <p:cNvPr id="229" name="Google Shape;229;p35"/>
          <p:cNvSpPr txBox="1"/>
          <p:nvPr>
            <p:ph type="title"/>
          </p:nvPr>
        </p:nvSpPr>
        <p:spPr>
          <a:xfrm>
            <a:off x="5309275" y="1161350"/>
            <a:ext cx="3538500" cy="11004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700"/>
              <a:t>AIH-Dominant livers have the highest inflammation grade and ALT values </a:t>
            </a:r>
            <a:endParaRPr b="1"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6"/>
          <p:cNvPicPr preferRelativeResize="0"/>
          <p:nvPr/>
        </p:nvPicPr>
        <p:blipFill rotWithShape="1">
          <a:blip r:embed="rId3">
            <a:alphaModFix/>
          </a:blip>
          <a:srcRect b="0" l="0" r="2286" t="28207"/>
          <a:stretch/>
        </p:blipFill>
        <p:spPr>
          <a:xfrm>
            <a:off x="6098850" y="1173726"/>
            <a:ext cx="2834075" cy="1677075"/>
          </a:xfrm>
          <a:prstGeom prst="rect">
            <a:avLst/>
          </a:prstGeom>
          <a:noFill/>
          <a:ln>
            <a:noFill/>
          </a:ln>
        </p:spPr>
      </p:pic>
      <p:sp>
        <p:nvSpPr>
          <p:cNvPr id="235" name="Google Shape;235;p36"/>
          <p:cNvSpPr txBox="1"/>
          <p:nvPr>
            <p:ph type="title"/>
          </p:nvPr>
        </p:nvSpPr>
        <p:spPr>
          <a:xfrm>
            <a:off x="311700" y="305225"/>
            <a:ext cx="8520600" cy="5931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920"/>
              <a:t>Validate CD40/CD40LG pathway and AFF3 expression in spatial dataset</a:t>
            </a:r>
            <a:endParaRPr b="1" sz="1920"/>
          </a:p>
        </p:txBody>
      </p:sp>
      <p:sp>
        <p:nvSpPr>
          <p:cNvPr id="236" name="Google Shape;236;p36"/>
          <p:cNvSpPr txBox="1"/>
          <p:nvPr/>
        </p:nvSpPr>
        <p:spPr>
          <a:xfrm>
            <a:off x="3432075" y="3636175"/>
            <a:ext cx="2044500" cy="9009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Instrument Sans"/>
                <a:ea typeface="Instrument Sans"/>
                <a:cs typeface="Instrument Sans"/>
                <a:sym typeface="Instrument Sans"/>
              </a:rPr>
              <a:t>Upregulation of </a:t>
            </a:r>
            <a:r>
              <a:rPr b="1" lang="en" sz="1300">
                <a:solidFill>
                  <a:schemeClr val="dk1"/>
                </a:solidFill>
                <a:latin typeface="Instrument Sans"/>
                <a:ea typeface="Instrument Sans"/>
                <a:cs typeface="Instrument Sans"/>
                <a:sym typeface="Instrument Sans"/>
              </a:rPr>
              <a:t>AFF3</a:t>
            </a:r>
            <a:r>
              <a:rPr lang="en" sz="1300">
                <a:solidFill>
                  <a:schemeClr val="dk1"/>
                </a:solidFill>
                <a:latin typeface="Instrument Sans"/>
                <a:ea typeface="Instrument Sans"/>
                <a:cs typeface="Instrument Sans"/>
                <a:sym typeface="Instrument Sans"/>
              </a:rPr>
              <a:t> in Periportal Hepatocytes in AIH livers</a:t>
            </a:r>
            <a:endParaRPr sz="1300">
              <a:solidFill>
                <a:schemeClr val="dk1"/>
              </a:solidFill>
              <a:latin typeface="Instrument Sans"/>
              <a:ea typeface="Instrument Sans"/>
              <a:cs typeface="Instrument Sans"/>
              <a:sym typeface="Instrument Sans"/>
            </a:endParaRPr>
          </a:p>
        </p:txBody>
      </p:sp>
      <p:pic>
        <p:nvPicPr>
          <p:cNvPr id="237" name="Google Shape;237;p36"/>
          <p:cNvPicPr preferRelativeResize="0"/>
          <p:nvPr/>
        </p:nvPicPr>
        <p:blipFill rotWithShape="1">
          <a:blip r:embed="rId4">
            <a:alphaModFix/>
          </a:blip>
          <a:srcRect b="0" l="0" r="0" t="7098"/>
          <a:stretch/>
        </p:blipFill>
        <p:spPr>
          <a:xfrm>
            <a:off x="432050" y="968138"/>
            <a:ext cx="2892625" cy="2088236"/>
          </a:xfrm>
          <a:prstGeom prst="rect">
            <a:avLst/>
          </a:prstGeom>
          <a:noFill/>
          <a:ln>
            <a:noFill/>
          </a:ln>
        </p:spPr>
      </p:pic>
      <p:pic>
        <p:nvPicPr>
          <p:cNvPr id="238" name="Google Shape;238;p36"/>
          <p:cNvPicPr preferRelativeResize="0"/>
          <p:nvPr/>
        </p:nvPicPr>
        <p:blipFill rotWithShape="1">
          <a:blip r:embed="rId5">
            <a:alphaModFix/>
          </a:blip>
          <a:srcRect b="0" l="0" r="0" t="7313"/>
          <a:stretch/>
        </p:blipFill>
        <p:spPr>
          <a:xfrm>
            <a:off x="384914" y="3044925"/>
            <a:ext cx="2892634" cy="2083400"/>
          </a:xfrm>
          <a:prstGeom prst="rect">
            <a:avLst/>
          </a:prstGeom>
          <a:noFill/>
          <a:ln>
            <a:noFill/>
          </a:ln>
        </p:spPr>
      </p:pic>
      <p:sp>
        <p:nvSpPr>
          <p:cNvPr id="239" name="Google Shape;239;p36"/>
          <p:cNvSpPr txBox="1"/>
          <p:nvPr/>
        </p:nvSpPr>
        <p:spPr>
          <a:xfrm>
            <a:off x="432050" y="1103700"/>
            <a:ext cx="138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Instrument Sans"/>
                <a:ea typeface="Instrument Sans"/>
                <a:cs typeface="Instrument Sans"/>
                <a:sym typeface="Instrument Sans"/>
              </a:rPr>
              <a:t>Lymphocyte Annotations in core A5_B</a:t>
            </a:r>
            <a:endParaRPr sz="800">
              <a:solidFill>
                <a:schemeClr val="dk2"/>
              </a:solidFill>
              <a:latin typeface="Instrument Sans"/>
              <a:ea typeface="Instrument Sans"/>
              <a:cs typeface="Instrument Sans"/>
              <a:sym typeface="Instrument Sans"/>
            </a:endParaRPr>
          </a:p>
        </p:txBody>
      </p:sp>
      <p:sp>
        <p:nvSpPr>
          <p:cNvPr id="240" name="Google Shape;240;p36"/>
          <p:cNvSpPr txBox="1"/>
          <p:nvPr/>
        </p:nvSpPr>
        <p:spPr>
          <a:xfrm>
            <a:off x="432050" y="3197300"/>
            <a:ext cx="138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Instrument Sans"/>
                <a:ea typeface="Instrument Sans"/>
                <a:cs typeface="Instrument Sans"/>
                <a:sym typeface="Instrument Sans"/>
              </a:rPr>
              <a:t>Hepatocyte</a:t>
            </a:r>
            <a:r>
              <a:rPr lang="en" sz="800">
                <a:solidFill>
                  <a:schemeClr val="dk2"/>
                </a:solidFill>
                <a:latin typeface="Instrument Sans"/>
                <a:ea typeface="Instrument Sans"/>
                <a:cs typeface="Instrument Sans"/>
                <a:sym typeface="Instrument Sans"/>
              </a:rPr>
              <a:t> Annotations in core A5_B</a:t>
            </a:r>
            <a:endParaRPr sz="800">
              <a:solidFill>
                <a:schemeClr val="dk2"/>
              </a:solidFill>
              <a:latin typeface="Instrument Sans"/>
              <a:ea typeface="Instrument Sans"/>
              <a:cs typeface="Instrument Sans"/>
              <a:sym typeface="Instrument Sans"/>
            </a:endParaRPr>
          </a:p>
        </p:txBody>
      </p:sp>
      <p:sp>
        <p:nvSpPr>
          <p:cNvPr id="241" name="Google Shape;241;p36"/>
          <p:cNvSpPr txBox="1"/>
          <p:nvPr/>
        </p:nvSpPr>
        <p:spPr>
          <a:xfrm>
            <a:off x="3432075" y="1534800"/>
            <a:ext cx="2044500" cy="9009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Instrument Sans"/>
                <a:ea typeface="Instrument Sans"/>
                <a:cs typeface="Instrument Sans"/>
                <a:sym typeface="Instrument Sans"/>
              </a:rPr>
              <a:t>Upregulation of </a:t>
            </a:r>
            <a:r>
              <a:rPr b="1" lang="en" sz="1300">
                <a:solidFill>
                  <a:schemeClr val="dk1"/>
                </a:solidFill>
                <a:latin typeface="Instrument Sans"/>
                <a:ea typeface="Instrument Sans"/>
                <a:cs typeface="Instrument Sans"/>
                <a:sym typeface="Instrument Sans"/>
              </a:rPr>
              <a:t>CD40/CD40LG</a:t>
            </a:r>
            <a:r>
              <a:rPr lang="en" sz="1300">
                <a:solidFill>
                  <a:schemeClr val="dk1"/>
                </a:solidFill>
                <a:latin typeface="Instrument Sans"/>
                <a:ea typeface="Instrument Sans"/>
                <a:cs typeface="Instrument Sans"/>
                <a:sym typeface="Instrument Sans"/>
              </a:rPr>
              <a:t> in B/CD4+T cells in AIH livers</a:t>
            </a:r>
            <a:endParaRPr sz="1300">
              <a:solidFill>
                <a:schemeClr val="dk1"/>
              </a:solidFill>
              <a:latin typeface="Instrument Sans"/>
              <a:ea typeface="Instrument Sans"/>
              <a:cs typeface="Instrument Sans"/>
              <a:sym typeface="Instrument Sans"/>
            </a:endParaRPr>
          </a:p>
        </p:txBody>
      </p:sp>
      <p:pic>
        <p:nvPicPr>
          <p:cNvPr id="242" name="Google Shape;242;p36"/>
          <p:cNvPicPr preferRelativeResize="0"/>
          <p:nvPr/>
        </p:nvPicPr>
        <p:blipFill rotWithShape="1">
          <a:blip r:embed="rId6">
            <a:alphaModFix/>
          </a:blip>
          <a:srcRect b="0" l="1614" r="0" t="32391"/>
          <a:stretch/>
        </p:blipFill>
        <p:spPr>
          <a:xfrm>
            <a:off x="5631100" y="3488775"/>
            <a:ext cx="3448925" cy="1451569"/>
          </a:xfrm>
          <a:prstGeom prst="rect">
            <a:avLst/>
          </a:prstGeom>
          <a:noFill/>
          <a:ln>
            <a:noFill/>
          </a:ln>
        </p:spPr>
      </p:pic>
      <p:sp>
        <p:nvSpPr>
          <p:cNvPr id="243" name="Google Shape;243;p36"/>
          <p:cNvSpPr/>
          <p:nvPr/>
        </p:nvSpPr>
        <p:spPr>
          <a:xfrm>
            <a:off x="6150625" y="1560050"/>
            <a:ext cx="1611000" cy="231600"/>
          </a:xfrm>
          <a:prstGeom prst="rect">
            <a:avLst/>
          </a:prstGeom>
          <a:solidFill>
            <a:srgbClr val="D52828">
              <a:alpha val="17720"/>
            </a:srgbClr>
          </a:solidFill>
          <a:ln cap="flat" cmpd="sng" w="28575">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244" name="Google Shape;244;p36"/>
          <p:cNvSpPr/>
          <p:nvPr/>
        </p:nvSpPr>
        <p:spPr>
          <a:xfrm>
            <a:off x="6150550" y="2021375"/>
            <a:ext cx="1611000" cy="231600"/>
          </a:xfrm>
          <a:prstGeom prst="rect">
            <a:avLst/>
          </a:prstGeom>
          <a:solidFill>
            <a:srgbClr val="D52828">
              <a:alpha val="17720"/>
            </a:srgbClr>
          </a:solidFill>
          <a:ln cap="flat" cmpd="sng" w="28575">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245" name="Google Shape;245;p36"/>
          <p:cNvSpPr/>
          <p:nvPr/>
        </p:nvSpPr>
        <p:spPr>
          <a:xfrm>
            <a:off x="5631100" y="4305475"/>
            <a:ext cx="2259300" cy="231600"/>
          </a:xfrm>
          <a:prstGeom prst="rect">
            <a:avLst/>
          </a:prstGeom>
          <a:solidFill>
            <a:srgbClr val="D52828">
              <a:alpha val="17720"/>
            </a:srgbClr>
          </a:solidFill>
          <a:ln cap="flat" cmpd="sng" w="28575">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37"/>
          <p:cNvPicPr preferRelativeResize="0"/>
          <p:nvPr/>
        </p:nvPicPr>
        <p:blipFill rotWithShape="1">
          <a:blip r:embed="rId3">
            <a:alphaModFix/>
          </a:blip>
          <a:srcRect b="8190" l="6577" r="3567" t="8156"/>
          <a:stretch/>
        </p:blipFill>
        <p:spPr>
          <a:xfrm rot="3">
            <a:off x="336463" y="1360763"/>
            <a:ext cx="3310681" cy="2421979"/>
          </a:xfrm>
          <a:prstGeom prst="rect">
            <a:avLst/>
          </a:prstGeom>
          <a:noFill/>
          <a:ln>
            <a:noFill/>
          </a:ln>
        </p:spPr>
      </p:pic>
      <p:sp>
        <p:nvSpPr>
          <p:cNvPr id="251" name="Google Shape;251;p37"/>
          <p:cNvSpPr txBox="1"/>
          <p:nvPr/>
        </p:nvSpPr>
        <p:spPr>
          <a:xfrm>
            <a:off x="311700" y="443650"/>
            <a:ext cx="8520600" cy="722700"/>
          </a:xfrm>
          <a:prstGeom prst="rect">
            <a:avLst/>
          </a:prstGeom>
          <a:solidFill>
            <a:srgbClr val="EEEEEE"/>
          </a:solidFill>
          <a:ln>
            <a:noFill/>
          </a:ln>
        </p:spPr>
        <p:txBody>
          <a:bodyPr anchorCtr="0" anchor="b" bIns="91425" lIns="91425" spcFirstLastPara="1" rIns="91425" wrap="square" tIns="91425">
            <a:normAutofit lnSpcReduction="10000"/>
          </a:bodyPr>
          <a:lstStyle/>
          <a:p>
            <a:pPr indent="0" lvl="0" marL="0" rtl="0" algn="ctr">
              <a:spcBef>
                <a:spcPts val="0"/>
              </a:spcBef>
              <a:spcAft>
                <a:spcPts val="0"/>
              </a:spcAft>
              <a:buNone/>
            </a:pPr>
            <a:r>
              <a:rPr b="1" lang="en" sz="1920">
                <a:solidFill>
                  <a:schemeClr val="dk1"/>
                </a:solidFill>
                <a:latin typeface="Instrument Sans"/>
                <a:ea typeface="Instrument Sans"/>
                <a:cs typeface="Instrument Sans"/>
                <a:sym typeface="Instrument Sans"/>
              </a:rPr>
              <a:t>We also observe an increase in the number of B/T cell pairs across patient group </a:t>
            </a:r>
            <a:endParaRPr b="1" sz="1920">
              <a:solidFill>
                <a:schemeClr val="dk1"/>
              </a:solidFill>
              <a:latin typeface="Instrument Sans"/>
              <a:ea typeface="Instrument Sans"/>
              <a:cs typeface="Instrument Sans"/>
              <a:sym typeface="Instrument Sans"/>
            </a:endParaRPr>
          </a:p>
        </p:txBody>
      </p:sp>
      <p:cxnSp>
        <p:nvCxnSpPr>
          <p:cNvPr id="252" name="Google Shape;252;p37"/>
          <p:cNvCxnSpPr/>
          <p:nvPr/>
        </p:nvCxnSpPr>
        <p:spPr>
          <a:xfrm flipH="1" rot="10800000">
            <a:off x="2208533" y="3658380"/>
            <a:ext cx="441300" cy="233400"/>
          </a:xfrm>
          <a:prstGeom prst="straightConnector1">
            <a:avLst/>
          </a:prstGeom>
          <a:noFill/>
          <a:ln cap="flat" cmpd="sng" w="69675">
            <a:solidFill>
              <a:srgbClr val="D62727"/>
            </a:solidFill>
            <a:prstDash val="solid"/>
            <a:round/>
            <a:headEnd len="med" w="med" type="none"/>
            <a:tailEnd len="med" w="med" type="none"/>
          </a:ln>
        </p:spPr>
      </p:cxnSp>
      <p:sp>
        <p:nvSpPr>
          <p:cNvPr id="253" name="Google Shape;253;p37"/>
          <p:cNvSpPr/>
          <p:nvPr/>
        </p:nvSpPr>
        <p:spPr>
          <a:xfrm>
            <a:off x="1826467" y="3713289"/>
            <a:ext cx="511500" cy="498000"/>
          </a:xfrm>
          <a:prstGeom prst="ellipse">
            <a:avLst/>
          </a:prstGeom>
          <a:solidFill>
            <a:srgbClr val="9BC891"/>
          </a:solidFill>
          <a:ln cap="flat" cmpd="sng" w="76200">
            <a:solidFill>
              <a:srgbClr val="2DA02D"/>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952"/>
              <a:t>B</a:t>
            </a:r>
            <a:endParaRPr b="1" sz="1952"/>
          </a:p>
        </p:txBody>
      </p:sp>
      <p:sp>
        <p:nvSpPr>
          <p:cNvPr id="254" name="Google Shape;254;p37"/>
          <p:cNvSpPr/>
          <p:nvPr/>
        </p:nvSpPr>
        <p:spPr>
          <a:xfrm>
            <a:off x="2620303" y="3334104"/>
            <a:ext cx="511500" cy="498000"/>
          </a:xfrm>
          <a:prstGeom prst="ellipse">
            <a:avLst/>
          </a:prstGeom>
          <a:solidFill>
            <a:srgbClr val="84B0E1"/>
          </a:solidFill>
          <a:ln cap="flat" cmpd="sng" w="76200">
            <a:solidFill>
              <a:srgbClr val="4A86E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952"/>
              <a:t>T</a:t>
            </a:r>
            <a:endParaRPr b="1" sz="1952"/>
          </a:p>
        </p:txBody>
      </p:sp>
      <p:cxnSp>
        <p:nvCxnSpPr>
          <p:cNvPr id="255" name="Google Shape;255;p37"/>
          <p:cNvCxnSpPr/>
          <p:nvPr/>
        </p:nvCxnSpPr>
        <p:spPr>
          <a:xfrm>
            <a:off x="2165948" y="3693683"/>
            <a:ext cx="0" cy="0"/>
          </a:xfrm>
          <a:prstGeom prst="straightConnector1">
            <a:avLst/>
          </a:prstGeom>
          <a:noFill/>
          <a:ln cap="flat" cmpd="sng" w="9875">
            <a:solidFill>
              <a:srgbClr val="595959"/>
            </a:solidFill>
            <a:prstDash val="solid"/>
            <a:round/>
            <a:headEnd len="med" w="med" type="none"/>
            <a:tailEnd len="med" w="med" type="none"/>
          </a:ln>
        </p:spPr>
      </p:cxnSp>
      <p:cxnSp>
        <p:nvCxnSpPr>
          <p:cNvPr id="256" name="Google Shape;256;p37"/>
          <p:cNvCxnSpPr/>
          <p:nvPr/>
        </p:nvCxnSpPr>
        <p:spPr>
          <a:xfrm rot="10800000">
            <a:off x="1522012" y="3112725"/>
            <a:ext cx="870900" cy="646200"/>
          </a:xfrm>
          <a:prstGeom prst="straightConnector1">
            <a:avLst/>
          </a:prstGeom>
          <a:noFill/>
          <a:ln cap="flat" cmpd="sng" w="19050">
            <a:solidFill>
              <a:srgbClr val="D62727"/>
            </a:solidFill>
            <a:prstDash val="solid"/>
            <a:round/>
            <a:headEnd len="med" w="med" type="none"/>
            <a:tailEnd len="med" w="med" type="triangle"/>
          </a:ln>
        </p:spPr>
      </p:cxnSp>
      <p:pic>
        <p:nvPicPr>
          <p:cNvPr id="257" name="Google Shape;257;p37"/>
          <p:cNvPicPr preferRelativeResize="0"/>
          <p:nvPr/>
        </p:nvPicPr>
        <p:blipFill>
          <a:blip r:embed="rId4">
            <a:alphaModFix/>
          </a:blip>
          <a:stretch>
            <a:fillRect/>
          </a:stretch>
        </p:blipFill>
        <p:spPr>
          <a:xfrm>
            <a:off x="3907575" y="1334004"/>
            <a:ext cx="4924726" cy="3659728"/>
          </a:xfrm>
          <a:prstGeom prst="rect">
            <a:avLst/>
          </a:prstGeom>
          <a:noFill/>
          <a:ln>
            <a:noFill/>
          </a:ln>
        </p:spPr>
      </p:pic>
      <p:sp>
        <p:nvSpPr>
          <p:cNvPr id="258" name="Google Shape;258;p37"/>
          <p:cNvSpPr txBox="1"/>
          <p:nvPr/>
        </p:nvSpPr>
        <p:spPr>
          <a:xfrm>
            <a:off x="4898350" y="2383713"/>
            <a:ext cx="2401500" cy="8772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Instrument Sans"/>
                <a:ea typeface="Instrument Sans"/>
                <a:cs typeface="Instrument Sans"/>
                <a:sym typeface="Instrument Sans"/>
              </a:rPr>
              <a:t>AIH dominant patient group has the highest number of B-T pairs</a:t>
            </a:r>
            <a:endParaRPr b="1" sz="1500">
              <a:solidFill>
                <a:schemeClr val="dk1"/>
              </a:solidFill>
              <a:latin typeface="Instrument Sans"/>
              <a:ea typeface="Instrument Sans"/>
              <a:cs typeface="Instrument Sans"/>
              <a:sym typeface="Instrument Sans"/>
            </a:endParaRPr>
          </a:p>
        </p:txBody>
      </p:sp>
      <p:sp>
        <p:nvSpPr>
          <p:cNvPr id="259" name="Google Shape;259;p37"/>
          <p:cNvSpPr/>
          <p:nvPr/>
        </p:nvSpPr>
        <p:spPr>
          <a:xfrm>
            <a:off x="8069775" y="1574313"/>
            <a:ext cx="657300" cy="2535600"/>
          </a:xfrm>
          <a:prstGeom prst="roundRect">
            <a:avLst>
              <a:gd fmla="val 16667" name="adj"/>
            </a:avLst>
          </a:prstGeom>
          <a:solidFill>
            <a:srgbClr val="D52828">
              <a:alpha val="177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260" name="Google Shape;260;p37"/>
          <p:cNvSpPr txBox="1"/>
          <p:nvPr/>
        </p:nvSpPr>
        <p:spPr>
          <a:xfrm>
            <a:off x="983650" y="4121675"/>
            <a:ext cx="18825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2DA02D"/>
                </a:solidFill>
                <a:latin typeface="Instrument Sans"/>
                <a:ea typeface="Instrument Sans"/>
                <a:cs typeface="Instrument Sans"/>
                <a:sym typeface="Instrument Sans"/>
              </a:rPr>
              <a:t>CD40-expressing</a:t>
            </a:r>
            <a:endParaRPr>
              <a:solidFill>
                <a:srgbClr val="2DA02D"/>
              </a:solidFill>
              <a:latin typeface="Instrument Sans"/>
              <a:ea typeface="Instrument Sans"/>
              <a:cs typeface="Instrument Sans"/>
              <a:sym typeface="Instrument Sans"/>
            </a:endParaRPr>
          </a:p>
        </p:txBody>
      </p:sp>
      <p:sp>
        <p:nvSpPr>
          <p:cNvPr id="261" name="Google Shape;261;p37"/>
          <p:cNvSpPr txBox="1"/>
          <p:nvPr/>
        </p:nvSpPr>
        <p:spPr>
          <a:xfrm>
            <a:off x="1936275" y="2930475"/>
            <a:ext cx="1971300" cy="49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4A86E8"/>
                </a:solidFill>
                <a:latin typeface="Instrument Sans"/>
                <a:ea typeface="Instrument Sans"/>
                <a:cs typeface="Instrument Sans"/>
                <a:sym typeface="Instrument Sans"/>
              </a:rPr>
              <a:t>CD40LG-expressing</a:t>
            </a:r>
            <a:endParaRPr>
              <a:solidFill>
                <a:srgbClr val="4A86E8"/>
              </a:solidFill>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Instrument Sans"/>
                <a:ea typeface="Instrument Sans"/>
                <a:cs typeface="Instrument Sans"/>
                <a:sym typeface="Instrument Sans"/>
              </a:rPr>
              <a:t>Thank you!</a:t>
            </a:r>
            <a:endParaRPr>
              <a:latin typeface="Instrument Sans"/>
              <a:ea typeface="Instrument Sans"/>
              <a:cs typeface="Instrument Sans"/>
              <a:sym typeface="Instrument Sans"/>
            </a:endParaRPr>
          </a:p>
        </p:txBody>
      </p:sp>
      <p:sp>
        <p:nvSpPr>
          <p:cNvPr id="267" name="Google Shape;26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935"/>
              <a:buFont typeface="Arial"/>
              <a:buNone/>
            </a:pPr>
            <a:r>
              <a:rPr lang="en" sz="1730">
                <a:latin typeface="Instrument Sans"/>
                <a:ea typeface="Instrument Sans"/>
                <a:cs typeface="Instrument Sans"/>
                <a:sym typeface="Instrument Sans"/>
              </a:rPr>
              <a:t>Abhishek Murti</a:t>
            </a:r>
            <a:endParaRPr sz="1730">
              <a:latin typeface="Instrument Sans"/>
              <a:ea typeface="Instrument Sans"/>
              <a:cs typeface="Instrument Sans"/>
              <a:sym typeface="Instrument Sans"/>
            </a:endParaRPr>
          </a:p>
          <a:p>
            <a:pPr indent="0" lvl="0" marL="0" rtl="0" algn="l">
              <a:lnSpc>
                <a:spcPct val="95000"/>
              </a:lnSpc>
              <a:spcBef>
                <a:spcPts val="1200"/>
              </a:spcBef>
              <a:spcAft>
                <a:spcPts val="0"/>
              </a:spcAft>
              <a:buClr>
                <a:schemeClr val="dk1"/>
              </a:buClr>
              <a:buSzPts val="935"/>
              <a:buFont typeface="Arial"/>
              <a:buNone/>
            </a:pPr>
            <a:r>
              <a:rPr lang="en" sz="1730">
                <a:latin typeface="Instrument Sans"/>
                <a:ea typeface="Instrument Sans"/>
                <a:cs typeface="Instrument Sans"/>
                <a:sym typeface="Instrument Sans"/>
              </a:rPr>
              <a:t>Aris Taychameekiachi</a:t>
            </a:r>
            <a:endParaRPr sz="1730">
              <a:latin typeface="Instrument Sans"/>
              <a:ea typeface="Instrument Sans"/>
              <a:cs typeface="Instrument Sans"/>
              <a:sym typeface="Instrument Sans"/>
            </a:endParaRPr>
          </a:p>
          <a:p>
            <a:pPr indent="0" lvl="0" marL="0" rtl="0" algn="l">
              <a:lnSpc>
                <a:spcPct val="95000"/>
              </a:lnSpc>
              <a:spcBef>
                <a:spcPts val="1200"/>
              </a:spcBef>
              <a:spcAft>
                <a:spcPts val="0"/>
              </a:spcAft>
              <a:buClr>
                <a:schemeClr val="dk1"/>
              </a:buClr>
              <a:buSzPts val="935"/>
              <a:buFont typeface="Arial"/>
              <a:buNone/>
            </a:pPr>
            <a:r>
              <a:rPr lang="en" sz="1730">
                <a:latin typeface="Instrument Sans"/>
                <a:ea typeface="Instrument Sans"/>
                <a:cs typeface="Instrument Sans"/>
                <a:sym typeface="Instrument Sans"/>
              </a:rPr>
              <a:t>Cindy Ament</a:t>
            </a:r>
            <a:endParaRPr sz="1730">
              <a:latin typeface="Instrument Sans"/>
              <a:ea typeface="Instrument Sans"/>
              <a:cs typeface="Instrument Sans"/>
              <a:sym typeface="Instrument Sans"/>
            </a:endParaRPr>
          </a:p>
          <a:p>
            <a:pPr indent="0" lvl="0" marL="0" rtl="0" algn="l">
              <a:lnSpc>
                <a:spcPct val="95000"/>
              </a:lnSpc>
              <a:spcBef>
                <a:spcPts val="1200"/>
              </a:spcBef>
              <a:spcAft>
                <a:spcPts val="0"/>
              </a:spcAft>
              <a:buClr>
                <a:schemeClr val="dk1"/>
              </a:buClr>
              <a:buSzPts val="935"/>
              <a:buFont typeface="Arial"/>
              <a:buNone/>
            </a:pPr>
            <a:r>
              <a:rPr lang="en" sz="1730">
                <a:latin typeface="Instrument Sans"/>
                <a:ea typeface="Instrument Sans"/>
                <a:cs typeface="Instrument Sans"/>
                <a:sym typeface="Instrument Sans"/>
              </a:rPr>
              <a:t>Elise Lelou</a:t>
            </a:r>
            <a:endParaRPr sz="1730">
              <a:latin typeface="Instrument Sans"/>
              <a:ea typeface="Instrument Sans"/>
              <a:cs typeface="Instrument Sans"/>
              <a:sym typeface="Instrument Sans"/>
            </a:endParaRPr>
          </a:p>
          <a:p>
            <a:pPr indent="0" lvl="0" marL="0" rtl="0" algn="l">
              <a:lnSpc>
                <a:spcPct val="95000"/>
              </a:lnSpc>
              <a:spcBef>
                <a:spcPts val="1200"/>
              </a:spcBef>
              <a:spcAft>
                <a:spcPts val="0"/>
              </a:spcAft>
              <a:buClr>
                <a:schemeClr val="dk1"/>
              </a:buClr>
              <a:buSzPts val="935"/>
              <a:buFont typeface="Arial"/>
              <a:buNone/>
            </a:pPr>
            <a:r>
              <a:rPr lang="en" sz="1730">
                <a:latin typeface="Instrument Sans"/>
                <a:ea typeface="Instrument Sans"/>
                <a:cs typeface="Instrument Sans"/>
                <a:sym typeface="Instrument Sans"/>
              </a:rPr>
              <a:t>Jasmine Wang</a:t>
            </a:r>
            <a:endParaRPr sz="1730">
              <a:latin typeface="Instrument Sans"/>
              <a:ea typeface="Instrument Sans"/>
              <a:cs typeface="Instrument Sans"/>
              <a:sym typeface="Instrument Sans"/>
            </a:endParaRPr>
          </a:p>
          <a:p>
            <a:pPr indent="0" lvl="0" marL="0" rtl="0" algn="l">
              <a:lnSpc>
                <a:spcPct val="95000"/>
              </a:lnSpc>
              <a:spcBef>
                <a:spcPts val="1200"/>
              </a:spcBef>
              <a:spcAft>
                <a:spcPts val="0"/>
              </a:spcAft>
              <a:buClr>
                <a:schemeClr val="dk1"/>
              </a:buClr>
              <a:buSzPts val="935"/>
              <a:buFont typeface="Arial"/>
              <a:buNone/>
            </a:pPr>
            <a:r>
              <a:rPr lang="en" sz="1730">
                <a:latin typeface="Instrument Sans"/>
                <a:ea typeface="Instrument Sans"/>
                <a:cs typeface="Instrument Sans"/>
                <a:sym typeface="Instrument Sans"/>
              </a:rPr>
              <a:t>Sydney Do</a:t>
            </a:r>
            <a:endParaRPr sz="1730">
              <a:latin typeface="Instrument Sans"/>
              <a:ea typeface="Instrument Sans"/>
              <a:cs typeface="Instrument Sans"/>
              <a:sym typeface="Instrument Sans"/>
            </a:endParaRPr>
          </a:p>
          <a:p>
            <a:pPr indent="0" lvl="0" marL="0" rtl="0" algn="l">
              <a:lnSpc>
                <a:spcPct val="95000"/>
              </a:lnSpc>
              <a:spcBef>
                <a:spcPts val="1200"/>
              </a:spcBef>
              <a:spcAft>
                <a:spcPts val="0"/>
              </a:spcAft>
              <a:buSzPts val="935"/>
              <a:buNone/>
            </a:pPr>
            <a:r>
              <a:rPr lang="en" sz="1730">
                <a:latin typeface="Instrument Sans"/>
                <a:ea typeface="Instrument Sans"/>
                <a:cs typeface="Instrument Sans"/>
                <a:sym typeface="Instrument Sans"/>
              </a:rPr>
              <a:t>Bruce Wang</a:t>
            </a:r>
            <a:endParaRPr sz="1730">
              <a:latin typeface="Instrument Sans"/>
              <a:ea typeface="Instrument Sans"/>
              <a:cs typeface="Instrument Sans"/>
              <a:sym typeface="Instrument Sans"/>
            </a:endParaRPr>
          </a:p>
          <a:p>
            <a:pPr indent="0" lvl="0" marL="0" rtl="0" algn="l">
              <a:lnSpc>
                <a:spcPct val="95000"/>
              </a:lnSpc>
              <a:spcBef>
                <a:spcPts val="1200"/>
              </a:spcBef>
              <a:spcAft>
                <a:spcPts val="1200"/>
              </a:spcAft>
              <a:buSzPts val="935"/>
              <a:buNone/>
            </a:pPr>
            <a:r>
              <a:rPr lang="en" sz="1730"/>
              <a:t>Michele Tana</a:t>
            </a:r>
            <a:endParaRPr sz="1730"/>
          </a:p>
        </p:txBody>
      </p:sp>
      <p:pic>
        <p:nvPicPr>
          <p:cNvPr id="268" name="Google Shape;268;p38"/>
          <p:cNvPicPr preferRelativeResize="0"/>
          <p:nvPr/>
        </p:nvPicPr>
        <p:blipFill>
          <a:blip r:embed="rId3">
            <a:alphaModFix/>
          </a:blip>
          <a:stretch>
            <a:fillRect/>
          </a:stretch>
        </p:blipFill>
        <p:spPr>
          <a:xfrm>
            <a:off x="2881750" y="492125"/>
            <a:ext cx="5897324" cy="1937951"/>
          </a:xfrm>
          <a:prstGeom prst="rect">
            <a:avLst/>
          </a:prstGeom>
          <a:noFill/>
          <a:ln>
            <a:noFill/>
          </a:ln>
        </p:spPr>
      </p:pic>
      <p:pic>
        <p:nvPicPr>
          <p:cNvPr id="269" name="Google Shape;269;p38"/>
          <p:cNvPicPr preferRelativeResize="0"/>
          <p:nvPr/>
        </p:nvPicPr>
        <p:blipFill>
          <a:blip r:embed="rId4">
            <a:alphaModFix/>
          </a:blip>
          <a:stretch>
            <a:fillRect/>
          </a:stretch>
        </p:blipFill>
        <p:spPr>
          <a:xfrm>
            <a:off x="6563900" y="2493575"/>
            <a:ext cx="2235026" cy="2235026"/>
          </a:xfrm>
          <a:prstGeom prst="rect">
            <a:avLst/>
          </a:prstGeom>
          <a:noFill/>
          <a:ln>
            <a:noFill/>
          </a:ln>
        </p:spPr>
      </p:pic>
      <p:sp>
        <p:nvSpPr>
          <p:cNvPr id="270" name="Google Shape;270;p38"/>
          <p:cNvSpPr txBox="1"/>
          <p:nvPr>
            <p:ph idx="1" type="body"/>
          </p:nvPr>
        </p:nvSpPr>
        <p:spPr>
          <a:xfrm>
            <a:off x="2975400" y="2621313"/>
            <a:ext cx="3379200" cy="117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latin typeface="Instrument Sans"/>
                <a:ea typeface="Instrument Sans"/>
                <a:cs typeface="Instrument Sans"/>
                <a:sym typeface="Instrument Sans"/>
              </a:rPr>
              <a:t>Amar Nijagal</a:t>
            </a:r>
            <a:endParaRPr sz="1500"/>
          </a:p>
          <a:p>
            <a:pPr indent="0" lvl="0" marL="0" rtl="0" algn="l">
              <a:spcBef>
                <a:spcPts val="1200"/>
              </a:spcBef>
              <a:spcAft>
                <a:spcPts val="1200"/>
              </a:spcAft>
              <a:buNone/>
            </a:pPr>
            <a:r>
              <a:rPr lang="en" sz="1500">
                <a:latin typeface="Instrument Sans"/>
                <a:ea typeface="Instrument Sans"/>
                <a:cs typeface="Instrument Sans"/>
                <a:sym typeface="Instrument Sans"/>
              </a:rPr>
              <a:t>Ari Molofsky</a:t>
            </a:r>
            <a:endParaRPr>
              <a:latin typeface="Instrument Sans"/>
              <a:ea typeface="Instrument Sans"/>
              <a:cs typeface="Instrument Sans"/>
              <a:sym typeface="Instrument Sans"/>
            </a:endParaRPr>
          </a:p>
        </p:txBody>
      </p:sp>
      <p:sp>
        <p:nvSpPr>
          <p:cNvPr id="271" name="Google Shape;271;p38"/>
          <p:cNvSpPr txBox="1"/>
          <p:nvPr/>
        </p:nvSpPr>
        <p:spPr>
          <a:xfrm>
            <a:off x="3633901" y="3763066"/>
            <a:ext cx="2630100" cy="413400"/>
          </a:xfrm>
          <a:prstGeom prst="rect">
            <a:avLst/>
          </a:prstGeom>
          <a:noFill/>
          <a:ln>
            <a:noFill/>
          </a:ln>
        </p:spPr>
        <p:txBody>
          <a:bodyPr anchorCtr="0" anchor="ctr" bIns="66350" lIns="66350" spcFirstLastPara="1" rIns="66350" wrap="square" tIns="66350">
            <a:spAutoFit/>
          </a:bodyPr>
          <a:lstStyle/>
          <a:p>
            <a:pPr indent="0" lvl="0" marL="0" rtl="0" algn="l">
              <a:spcBef>
                <a:spcPts val="0"/>
              </a:spcBef>
              <a:spcAft>
                <a:spcPts val="0"/>
              </a:spcAft>
              <a:buNone/>
            </a:pPr>
            <a:r>
              <a:rPr b="1" lang="en" sz="1814">
                <a:solidFill>
                  <a:srgbClr val="990000"/>
                </a:solidFill>
                <a:latin typeface="Instrument Sans"/>
                <a:ea typeface="Instrument Sans"/>
                <a:cs typeface="Instrument Sans"/>
                <a:sym typeface="Instrument Sans"/>
              </a:rPr>
              <a:t>nikita.sajai@ucsf.edu</a:t>
            </a:r>
            <a:endParaRPr b="1" sz="1814">
              <a:solidFill>
                <a:srgbClr val="990000"/>
              </a:solidFill>
              <a:latin typeface="Instrument Sans"/>
              <a:ea typeface="Instrument Sans"/>
              <a:cs typeface="Instrument Sans"/>
              <a:sym typeface="Instrument Sans"/>
            </a:endParaRPr>
          </a:p>
        </p:txBody>
      </p:sp>
      <p:pic>
        <p:nvPicPr>
          <p:cNvPr descr="an icon of an envelope with a piece of paper in it (Provided by Tenor)" id="272" name="Google Shape;272;p38"/>
          <p:cNvPicPr preferRelativeResize="0"/>
          <p:nvPr/>
        </p:nvPicPr>
        <p:blipFill>
          <a:blip r:embed="rId5">
            <a:alphaModFix/>
          </a:blip>
          <a:stretch>
            <a:fillRect/>
          </a:stretch>
        </p:blipFill>
        <p:spPr>
          <a:xfrm>
            <a:off x="2891994" y="3577985"/>
            <a:ext cx="783600" cy="783600"/>
          </a:xfrm>
          <a:prstGeom prst="ellipse">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grpSp>
        <p:nvGrpSpPr>
          <p:cNvPr id="277" name="Google Shape;277;p39"/>
          <p:cNvGrpSpPr/>
          <p:nvPr/>
        </p:nvGrpSpPr>
        <p:grpSpPr>
          <a:xfrm>
            <a:off x="117815" y="2402680"/>
            <a:ext cx="2564463" cy="1023756"/>
            <a:chOff x="577313" y="2441623"/>
            <a:chExt cx="2724963" cy="1087829"/>
          </a:xfrm>
        </p:grpSpPr>
        <p:pic>
          <p:nvPicPr>
            <p:cNvPr id="278" name="Google Shape;278;p39"/>
            <p:cNvPicPr preferRelativeResize="0"/>
            <p:nvPr/>
          </p:nvPicPr>
          <p:blipFill rotWithShape="1">
            <a:blip r:embed="rId3">
              <a:alphaModFix/>
            </a:blip>
            <a:srcRect b="74584" l="32022" r="36435" t="0"/>
            <a:stretch/>
          </p:blipFill>
          <p:spPr>
            <a:xfrm>
              <a:off x="902698" y="2441623"/>
              <a:ext cx="2399578" cy="1087565"/>
            </a:xfrm>
            <a:prstGeom prst="rect">
              <a:avLst/>
            </a:prstGeom>
            <a:noFill/>
            <a:ln>
              <a:noFill/>
            </a:ln>
          </p:spPr>
        </p:pic>
        <p:sp>
          <p:nvSpPr>
            <p:cNvPr id="279" name="Google Shape;279;p39"/>
            <p:cNvSpPr/>
            <p:nvPr/>
          </p:nvSpPr>
          <p:spPr>
            <a:xfrm>
              <a:off x="577313" y="3018852"/>
              <a:ext cx="867300" cy="510600"/>
            </a:xfrm>
            <a:prstGeom prst="rect">
              <a:avLst/>
            </a:prstGeom>
            <a:solidFill>
              <a:schemeClr val="lt1"/>
            </a:solidFill>
            <a:ln>
              <a:noFill/>
            </a:ln>
          </p:spPr>
          <p:txBody>
            <a:bodyPr anchorCtr="0" anchor="ctr" bIns="73125" lIns="73125" spcFirstLastPara="1" rIns="73125" wrap="square" tIns="73125">
              <a:noAutofit/>
            </a:bodyPr>
            <a:lstStyle/>
            <a:p>
              <a:pPr indent="0" lvl="0" marL="0" rtl="0" algn="ctr">
                <a:spcBef>
                  <a:spcPts val="0"/>
                </a:spcBef>
                <a:spcAft>
                  <a:spcPts val="0"/>
                </a:spcAft>
                <a:buNone/>
              </a:pPr>
              <a:r>
                <a:t/>
              </a:r>
              <a:endParaRPr sz="1120">
                <a:latin typeface="Instrument Sans"/>
                <a:ea typeface="Instrument Sans"/>
                <a:cs typeface="Instrument Sans"/>
                <a:sym typeface="Instrument Sans"/>
              </a:endParaRPr>
            </a:p>
          </p:txBody>
        </p:sp>
      </p:grpSp>
      <p:sp>
        <p:nvSpPr>
          <p:cNvPr id="280" name="Google Shape;280;p39"/>
          <p:cNvSpPr txBox="1"/>
          <p:nvPr>
            <p:ph type="title"/>
          </p:nvPr>
        </p:nvSpPr>
        <p:spPr>
          <a:xfrm>
            <a:off x="311700" y="511475"/>
            <a:ext cx="8520600" cy="4338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020"/>
              <a:t>Diagnosis and treatment methods could use improvement</a:t>
            </a:r>
            <a:endParaRPr b="1" sz="2020"/>
          </a:p>
        </p:txBody>
      </p:sp>
      <p:grpSp>
        <p:nvGrpSpPr>
          <p:cNvPr id="281" name="Google Shape;281;p39"/>
          <p:cNvGrpSpPr/>
          <p:nvPr/>
        </p:nvGrpSpPr>
        <p:grpSpPr>
          <a:xfrm>
            <a:off x="2627397" y="1901388"/>
            <a:ext cx="1992601" cy="1427159"/>
            <a:chOff x="5567775" y="1931223"/>
            <a:chExt cx="2407686" cy="1724455"/>
          </a:xfrm>
        </p:grpSpPr>
        <p:pic>
          <p:nvPicPr>
            <p:cNvPr id="282" name="Google Shape;282;p39"/>
            <p:cNvPicPr preferRelativeResize="0"/>
            <p:nvPr/>
          </p:nvPicPr>
          <p:blipFill rotWithShape="1">
            <a:blip r:embed="rId3">
              <a:alphaModFix/>
            </a:blip>
            <a:srcRect b="0" l="68976" r="0" t="55869"/>
            <a:stretch/>
          </p:blipFill>
          <p:spPr>
            <a:xfrm>
              <a:off x="5877420" y="1977036"/>
              <a:ext cx="2098042" cy="1678642"/>
            </a:xfrm>
            <a:prstGeom prst="rect">
              <a:avLst/>
            </a:prstGeom>
            <a:noFill/>
            <a:ln>
              <a:noFill/>
            </a:ln>
          </p:spPr>
        </p:pic>
        <p:sp>
          <p:nvSpPr>
            <p:cNvPr id="283" name="Google Shape;283;p39"/>
            <p:cNvSpPr/>
            <p:nvPr/>
          </p:nvSpPr>
          <p:spPr>
            <a:xfrm>
              <a:off x="5567775" y="1931223"/>
              <a:ext cx="867300" cy="510600"/>
            </a:xfrm>
            <a:prstGeom prst="rect">
              <a:avLst/>
            </a:prstGeom>
            <a:solidFill>
              <a:schemeClr val="lt1"/>
            </a:solidFill>
            <a:ln>
              <a:noFill/>
            </a:ln>
          </p:spPr>
          <p:txBody>
            <a:bodyPr anchorCtr="0" anchor="ctr" bIns="64300" lIns="64300" spcFirstLastPara="1" rIns="64300" wrap="square" tIns="64300">
              <a:noAutofit/>
            </a:bodyPr>
            <a:lstStyle/>
            <a:p>
              <a:pPr indent="0" lvl="0" marL="0" rtl="0" algn="ctr">
                <a:spcBef>
                  <a:spcPts val="0"/>
                </a:spcBef>
                <a:spcAft>
                  <a:spcPts val="0"/>
                </a:spcAft>
                <a:buNone/>
              </a:pPr>
              <a:r>
                <a:t/>
              </a:r>
              <a:endParaRPr sz="985">
                <a:latin typeface="Instrument Sans"/>
                <a:ea typeface="Instrument Sans"/>
                <a:cs typeface="Instrument Sans"/>
                <a:sym typeface="Instrument Sans"/>
              </a:endParaRPr>
            </a:p>
          </p:txBody>
        </p:sp>
      </p:grpSp>
      <p:grpSp>
        <p:nvGrpSpPr>
          <p:cNvPr id="284" name="Google Shape;284;p39"/>
          <p:cNvGrpSpPr/>
          <p:nvPr/>
        </p:nvGrpSpPr>
        <p:grpSpPr>
          <a:xfrm>
            <a:off x="463118" y="1107462"/>
            <a:ext cx="2693803" cy="1133028"/>
            <a:chOff x="311703" y="1072475"/>
            <a:chExt cx="3059401" cy="1286800"/>
          </a:xfrm>
        </p:grpSpPr>
        <p:pic>
          <p:nvPicPr>
            <p:cNvPr id="285" name="Google Shape;285;p39"/>
            <p:cNvPicPr preferRelativeResize="0"/>
            <p:nvPr/>
          </p:nvPicPr>
          <p:blipFill rotWithShape="1">
            <a:blip r:embed="rId3">
              <a:alphaModFix/>
            </a:blip>
            <a:srcRect b="1451" l="30587" r="32593" t="69125"/>
            <a:stretch/>
          </p:blipFill>
          <p:spPr>
            <a:xfrm>
              <a:off x="508490" y="1072475"/>
              <a:ext cx="2862614" cy="1286800"/>
            </a:xfrm>
            <a:prstGeom prst="rect">
              <a:avLst/>
            </a:prstGeom>
            <a:noFill/>
            <a:ln>
              <a:noFill/>
            </a:ln>
          </p:spPr>
        </p:pic>
        <p:sp>
          <p:nvSpPr>
            <p:cNvPr id="286" name="Google Shape;286;p39"/>
            <p:cNvSpPr/>
            <p:nvPr/>
          </p:nvSpPr>
          <p:spPr>
            <a:xfrm>
              <a:off x="311703" y="1799559"/>
              <a:ext cx="867300" cy="510600"/>
            </a:xfrm>
            <a:prstGeom prst="rect">
              <a:avLst/>
            </a:prstGeom>
            <a:solidFill>
              <a:schemeClr val="lt1"/>
            </a:solidFill>
            <a:ln>
              <a:noFill/>
            </a:ln>
          </p:spPr>
          <p:txBody>
            <a:bodyPr anchorCtr="0" anchor="ctr" bIns="68425" lIns="68425" spcFirstLastPara="1" rIns="68425" wrap="square" tIns="68425">
              <a:noAutofit/>
            </a:bodyPr>
            <a:lstStyle/>
            <a:p>
              <a:pPr indent="0" lvl="0" marL="0" rtl="0" algn="ctr">
                <a:spcBef>
                  <a:spcPts val="0"/>
                </a:spcBef>
                <a:spcAft>
                  <a:spcPts val="0"/>
                </a:spcAft>
                <a:buNone/>
              </a:pPr>
              <a:r>
                <a:t/>
              </a:r>
              <a:endParaRPr sz="1048">
                <a:latin typeface="Instrument Sans"/>
                <a:ea typeface="Instrument Sans"/>
                <a:cs typeface="Instrument Sans"/>
                <a:sym typeface="Instrument Sans"/>
              </a:endParaRPr>
            </a:p>
          </p:txBody>
        </p:sp>
      </p:grpSp>
      <p:sp>
        <p:nvSpPr>
          <p:cNvPr id="287" name="Google Shape;287;p39"/>
          <p:cNvSpPr txBox="1"/>
          <p:nvPr/>
        </p:nvSpPr>
        <p:spPr>
          <a:xfrm>
            <a:off x="5521725" y="3564915"/>
            <a:ext cx="2998800" cy="807300"/>
          </a:xfrm>
          <a:prstGeom prst="rect">
            <a:avLst/>
          </a:prstGeom>
          <a:solidFill>
            <a:srgbClr val="FCE5CD"/>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2022">
                <a:solidFill>
                  <a:schemeClr val="dk1"/>
                </a:solidFill>
                <a:latin typeface="Instrument Sans"/>
                <a:ea typeface="Instrument Sans"/>
                <a:cs typeface="Instrument Sans"/>
                <a:sym typeface="Instrument Sans"/>
              </a:rPr>
              <a:t>Limited treatment options</a:t>
            </a:r>
            <a:endParaRPr b="1" sz="2800">
              <a:solidFill>
                <a:schemeClr val="dk1"/>
              </a:solidFill>
              <a:latin typeface="Instrument Sans"/>
              <a:ea typeface="Instrument Sans"/>
              <a:cs typeface="Instrument Sans"/>
              <a:sym typeface="Instrument Sans"/>
            </a:endParaRPr>
          </a:p>
        </p:txBody>
      </p:sp>
      <p:sp>
        <p:nvSpPr>
          <p:cNvPr id="288" name="Google Shape;288;p39"/>
          <p:cNvSpPr txBox="1"/>
          <p:nvPr/>
        </p:nvSpPr>
        <p:spPr>
          <a:xfrm>
            <a:off x="1268650" y="3564915"/>
            <a:ext cx="2998800" cy="8073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2022">
                <a:solidFill>
                  <a:schemeClr val="dk1"/>
                </a:solidFill>
                <a:latin typeface="Instrument Sans"/>
                <a:ea typeface="Instrument Sans"/>
                <a:cs typeface="Instrument Sans"/>
                <a:sym typeface="Instrument Sans"/>
              </a:rPr>
              <a:t>Invasive</a:t>
            </a:r>
            <a:r>
              <a:rPr b="1" lang="en" sz="2022">
                <a:solidFill>
                  <a:schemeClr val="dk1"/>
                </a:solidFill>
                <a:latin typeface="Instrument Sans"/>
                <a:ea typeface="Instrument Sans"/>
                <a:cs typeface="Instrument Sans"/>
                <a:sym typeface="Instrument Sans"/>
              </a:rPr>
              <a:t> diagnostic methods</a:t>
            </a:r>
            <a:endParaRPr b="1" sz="2800">
              <a:solidFill>
                <a:schemeClr val="dk1"/>
              </a:solidFill>
              <a:latin typeface="Instrument Sans"/>
              <a:ea typeface="Instrument Sans"/>
              <a:cs typeface="Instrument Sans"/>
              <a:sym typeface="Instrument Sans"/>
            </a:endParaRPr>
          </a:p>
        </p:txBody>
      </p:sp>
      <p:pic>
        <p:nvPicPr>
          <p:cNvPr id="289" name="Google Shape;289;p39"/>
          <p:cNvPicPr preferRelativeResize="0"/>
          <p:nvPr/>
        </p:nvPicPr>
        <p:blipFill rotWithShape="1">
          <a:blip r:embed="rId4">
            <a:alphaModFix/>
          </a:blip>
          <a:srcRect b="0" l="29353" r="35506" t="0"/>
          <a:stretch/>
        </p:blipFill>
        <p:spPr>
          <a:xfrm>
            <a:off x="5360624" y="1205350"/>
            <a:ext cx="1369956" cy="2123200"/>
          </a:xfrm>
          <a:prstGeom prst="rect">
            <a:avLst/>
          </a:prstGeom>
          <a:noFill/>
          <a:ln>
            <a:noFill/>
          </a:ln>
        </p:spPr>
      </p:pic>
      <p:sp>
        <p:nvSpPr>
          <p:cNvPr id="290" name="Google Shape;290;p39"/>
          <p:cNvSpPr txBox="1"/>
          <p:nvPr/>
        </p:nvSpPr>
        <p:spPr>
          <a:xfrm>
            <a:off x="6763425" y="1830150"/>
            <a:ext cx="18528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CCCCCC"/>
                </a:solidFill>
                <a:latin typeface="Instrument Sans"/>
                <a:ea typeface="Instrument Sans"/>
                <a:cs typeface="Instrument Sans"/>
                <a:sym typeface="Instrument Sans"/>
              </a:rPr>
              <a:t>Steroids</a:t>
            </a:r>
            <a:r>
              <a:rPr lang="en" sz="1100">
                <a:solidFill>
                  <a:srgbClr val="CCCCCC"/>
                </a:solidFill>
                <a:latin typeface="Instrument Sans"/>
                <a:ea typeface="Instrument Sans"/>
                <a:cs typeface="Instrument Sans"/>
                <a:sym typeface="Instrument Sans"/>
              </a:rPr>
              <a:t> (</a:t>
            </a:r>
            <a:r>
              <a:rPr lang="en" sz="1100">
                <a:solidFill>
                  <a:srgbClr val="CCCCCC"/>
                </a:solidFill>
                <a:latin typeface="Instrument Sans"/>
                <a:ea typeface="Instrument Sans"/>
                <a:cs typeface="Instrument Sans"/>
                <a:sym typeface="Instrument Sans"/>
              </a:rPr>
              <a:t>prednisone</a:t>
            </a:r>
            <a:r>
              <a:rPr lang="en" sz="1100">
                <a:solidFill>
                  <a:srgbClr val="CCCCCC"/>
                </a:solidFill>
                <a:latin typeface="Instrument Sans"/>
                <a:ea typeface="Instrument Sans"/>
                <a:cs typeface="Instrument Sans"/>
                <a:sym typeface="Instrument Sans"/>
              </a:rPr>
              <a:t>/budesonide)</a:t>
            </a:r>
            <a:endParaRPr sz="1100">
              <a:solidFill>
                <a:srgbClr val="CCCCCC"/>
              </a:solidFill>
              <a:latin typeface="Instrument Sans"/>
              <a:ea typeface="Instrument Sans"/>
              <a:cs typeface="Instrument Sans"/>
              <a:sym typeface="Instrument Sans"/>
            </a:endParaRPr>
          </a:p>
          <a:p>
            <a:pPr indent="0" lvl="0" marL="0" rtl="0" algn="l">
              <a:spcBef>
                <a:spcPts val="0"/>
              </a:spcBef>
              <a:spcAft>
                <a:spcPts val="0"/>
              </a:spcAft>
              <a:buNone/>
            </a:pPr>
            <a:r>
              <a:t/>
            </a:r>
            <a:endParaRPr sz="1100">
              <a:solidFill>
                <a:srgbClr val="CCCCCC"/>
              </a:solidFill>
              <a:latin typeface="Instrument Sans"/>
              <a:ea typeface="Instrument Sans"/>
              <a:cs typeface="Instrument Sans"/>
              <a:sym typeface="Instrument Sans"/>
            </a:endParaRPr>
          </a:p>
          <a:p>
            <a:pPr indent="0" lvl="0" marL="0" rtl="0" algn="l">
              <a:spcBef>
                <a:spcPts val="0"/>
              </a:spcBef>
              <a:spcAft>
                <a:spcPts val="0"/>
              </a:spcAft>
              <a:buNone/>
            </a:pPr>
            <a:r>
              <a:rPr b="1" lang="en" sz="1100">
                <a:solidFill>
                  <a:srgbClr val="CCCCCC"/>
                </a:solidFill>
                <a:latin typeface="Instrument Sans"/>
                <a:ea typeface="Instrument Sans"/>
                <a:cs typeface="Instrument Sans"/>
                <a:sym typeface="Instrument Sans"/>
              </a:rPr>
              <a:t>Immunosuppressants</a:t>
            </a:r>
            <a:r>
              <a:rPr lang="en" sz="1100">
                <a:solidFill>
                  <a:srgbClr val="CCCCCC"/>
                </a:solidFill>
                <a:latin typeface="Instrument Sans"/>
                <a:ea typeface="Instrument Sans"/>
                <a:cs typeface="Instrument Sans"/>
                <a:sym typeface="Instrument Sans"/>
              </a:rPr>
              <a:t> (azathioprine)</a:t>
            </a:r>
            <a:endParaRPr sz="1100">
              <a:solidFill>
                <a:srgbClr val="CCCCCC"/>
              </a:solidFill>
              <a:latin typeface="Instrument Sans"/>
              <a:ea typeface="Instrument Sans"/>
              <a:cs typeface="Instrument Sans"/>
              <a:sym typeface="Instrument Sans"/>
            </a:endParaRPr>
          </a:p>
        </p:txBody>
      </p:sp>
      <p:sp>
        <p:nvSpPr>
          <p:cNvPr id="291" name="Google Shape;291;p39"/>
          <p:cNvSpPr txBox="1"/>
          <p:nvPr/>
        </p:nvSpPr>
        <p:spPr>
          <a:xfrm>
            <a:off x="311700" y="4509050"/>
            <a:ext cx="8520600" cy="523200"/>
          </a:xfrm>
          <a:prstGeom prst="rect">
            <a:avLst/>
          </a:prstGeom>
          <a:solidFill>
            <a:srgbClr val="F4CCCC"/>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Instrument Sans"/>
                <a:ea typeface="Instrument Sans"/>
                <a:cs typeface="Instrument Sans"/>
                <a:sym typeface="Instrument Sans"/>
              </a:rPr>
              <a:t>Better understanding of AIH = Better diagnostic methods</a:t>
            </a:r>
            <a:endParaRPr b="1" sz="2200">
              <a:solidFill>
                <a:schemeClr val="dk1"/>
              </a:solidFill>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5" name="Shape 295"/>
        <p:cNvGrpSpPr/>
        <p:nvPr/>
      </p:nvGrpSpPr>
      <p:grpSpPr>
        <a:xfrm>
          <a:off x="0" y="0"/>
          <a:ext cx="0" cy="0"/>
          <a:chOff x="0" y="0"/>
          <a:chExt cx="0" cy="0"/>
        </a:xfrm>
      </p:grpSpPr>
      <p:pic>
        <p:nvPicPr>
          <p:cNvPr id="296" name="Google Shape;296;p40"/>
          <p:cNvPicPr preferRelativeResize="0"/>
          <p:nvPr/>
        </p:nvPicPr>
        <p:blipFill rotWithShape="1">
          <a:blip r:embed="rId3">
            <a:alphaModFix/>
          </a:blip>
          <a:srcRect b="0" l="4024" r="3048" t="0"/>
          <a:stretch/>
        </p:blipFill>
        <p:spPr>
          <a:xfrm>
            <a:off x="333900" y="990600"/>
            <a:ext cx="4192974" cy="3790051"/>
          </a:xfrm>
          <a:prstGeom prst="rect">
            <a:avLst/>
          </a:prstGeom>
          <a:noFill/>
          <a:ln>
            <a:noFill/>
          </a:ln>
        </p:spPr>
      </p:pic>
      <p:sp>
        <p:nvSpPr>
          <p:cNvPr id="297" name="Google Shape;297;p40"/>
          <p:cNvSpPr txBox="1"/>
          <p:nvPr/>
        </p:nvSpPr>
        <p:spPr>
          <a:xfrm>
            <a:off x="3057300" y="4041750"/>
            <a:ext cx="1482900" cy="738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800">
                <a:solidFill>
                  <a:srgbClr val="A177FF"/>
                </a:solidFill>
              </a:rPr>
              <a:t>CYP1A2</a:t>
            </a:r>
            <a:endParaRPr sz="1800">
              <a:solidFill>
                <a:srgbClr val="A177FF"/>
              </a:solidFill>
            </a:endParaRPr>
          </a:p>
          <a:p>
            <a:pPr indent="0" lvl="0" marL="0" rtl="0" algn="r">
              <a:spcBef>
                <a:spcPts val="0"/>
              </a:spcBef>
              <a:spcAft>
                <a:spcPts val="0"/>
              </a:spcAft>
              <a:buNone/>
            </a:pPr>
            <a:r>
              <a:rPr lang="en" sz="1800">
                <a:solidFill>
                  <a:srgbClr val="1FEFA5"/>
                </a:solidFill>
              </a:rPr>
              <a:t>HAL</a:t>
            </a:r>
            <a:endParaRPr sz="1800">
              <a:solidFill>
                <a:srgbClr val="1FEFA5"/>
              </a:solidFill>
            </a:endParaRPr>
          </a:p>
        </p:txBody>
      </p:sp>
      <p:cxnSp>
        <p:nvCxnSpPr>
          <p:cNvPr id="298" name="Google Shape;298;p40"/>
          <p:cNvCxnSpPr/>
          <p:nvPr/>
        </p:nvCxnSpPr>
        <p:spPr>
          <a:xfrm flipH="1">
            <a:off x="2057900" y="1207125"/>
            <a:ext cx="1362900" cy="1392000"/>
          </a:xfrm>
          <a:prstGeom prst="straightConnector1">
            <a:avLst/>
          </a:prstGeom>
          <a:noFill/>
          <a:ln cap="flat" cmpd="sng" w="38100">
            <a:solidFill>
              <a:schemeClr val="accent3"/>
            </a:solidFill>
            <a:prstDash val="solid"/>
            <a:round/>
            <a:headEnd len="med" w="med" type="none"/>
            <a:tailEnd len="med" w="med" type="none"/>
          </a:ln>
        </p:spPr>
      </p:cxnSp>
      <p:cxnSp>
        <p:nvCxnSpPr>
          <p:cNvPr id="299" name="Google Shape;299;p40"/>
          <p:cNvCxnSpPr/>
          <p:nvPr/>
        </p:nvCxnSpPr>
        <p:spPr>
          <a:xfrm rot="10800000">
            <a:off x="2039300" y="2598875"/>
            <a:ext cx="1406100" cy="1696800"/>
          </a:xfrm>
          <a:prstGeom prst="straightConnector1">
            <a:avLst/>
          </a:prstGeom>
          <a:noFill/>
          <a:ln cap="flat" cmpd="sng" w="38100">
            <a:solidFill>
              <a:schemeClr val="accent3"/>
            </a:solidFill>
            <a:prstDash val="solid"/>
            <a:round/>
            <a:headEnd len="med" w="med" type="none"/>
            <a:tailEnd len="med" w="med" type="none"/>
          </a:ln>
        </p:spPr>
      </p:cxnSp>
      <p:pic>
        <p:nvPicPr>
          <p:cNvPr id="300" name="Google Shape;300;p40"/>
          <p:cNvPicPr preferRelativeResize="0"/>
          <p:nvPr/>
        </p:nvPicPr>
        <p:blipFill>
          <a:blip r:embed="rId4">
            <a:alphaModFix/>
          </a:blip>
          <a:stretch>
            <a:fillRect/>
          </a:stretch>
        </p:blipFill>
        <p:spPr>
          <a:xfrm>
            <a:off x="3427890" y="1189100"/>
            <a:ext cx="5202980" cy="3119749"/>
          </a:xfrm>
          <a:prstGeom prst="rect">
            <a:avLst/>
          </a:prstGeom>
          <a:noFill/>
          <a:ln cap="flat" cmpd="sng" w="38100">
            <a:solidFill>
              <a:schemeClr val="accent3"/>
            </a:solidFill>
            <a:prstDash val="solid"/>
            <a:round/>
            <a:headEnd len="sm" w="sm" type="none"/>
            <a:tailEnd len="sm" w="sm" type="none"/>
          </a:ln>
        </p:spPr>
      </p:pic>
      <p:sp>
        <p:nvSpPr>
          <p:cNvPr id="301" name="Google Shape;301;p40"/>
          <p:cNvSpPr txBox="1"/>
          <p:nvPr/>
        </p:nvSpPr>
        <p:spPr>
          <a:xfrm>
            <a:off x="3427895" y="3649175"/>
            <a:ext cx="2247000" cy="646500"/>
          </a:xfrm>
          <a:prstGeom prst="rect">
            <a:avLst/>
          </a:prstGeom>
          <a:solidFill>
            <a:schemeClr val="lt1"/>
          </a:solidFill>
          <a:ln cap="flat" cmpd="sng" w="38100">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1A3B8"/>
                </a:solidFill>
                <a:latin typeface="Instrument Sans"/>
                <a:ea typeface="Instrument Sans"/>
                <a:cs typeface="Instrument Sans"/>
                <a:sym typeface="Instrument Sans"/>
              </a:rPr>
              <a:t>Segmented by boundary stain</a:t>
            </a:r>
            <a:endParaRPr sz="1000">
              <a:solidFill>
                <a:srgbClr val="F1A3B8"/>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rgbClr val="A09F03"/>
                </a:solidFill>
                <a:latin typeface="Instrument Sans"/>
                <a:ea typeface="Instrument Sans"/>
                <a:cs typeface="Instrument Sans"/>
                <a:sym typeface="Instrument Sans"/>
              </a:rPr>
              <a:t>Segmented by interior stain</a:t>
            </a:r>
            <a:endParaRPr sz="1000">
              <a:solidFill>
                <a:srgbClr val="A09F03"/>
              </a:solidFill>
              <a:latin typeface="Instrument Sans"/>
              <a:ea typeface="Instrument Sans"/>
              <a:cs typeface="Instrument Sans"/>
              <a:sym typeface="Instrument Sans"/>
            </a:endParaRPr>
          </a:p>
          <a:p>
            <a:pPr indent="0" lvl="0" marL="0" rtl="0" algn="l">
              <a:spcBef>
                <a:spcPts val="0"/>
              </a:spcBef>
              <a:spcAft>
                <a:spcPts val="0"/>
              </a:spcAft>
              <a:buNone/>
            </a:pPr>
            <a:r>
              <a:rPr lang="en" sz="1000">
                <a:solidFill>
                  <a:schemeClr val="accent2"/>
                </a:solidFill>
                <a:latin typeface="Instrument Sans"/>
                <a:ea typeface="Instrument Sans"/>
                <a:cs typeface="Instrument Sans"/>
                <a:sym typeface="Instrument Sans"/>
              </a:rPr>
              <a:t>Segmented by nucleus expansion</a:t>
            </a:r>
            <a:endParaRPr sz="1000">
              <a:solidFill>
                <a:schemeClr val="accent2"/>
              </a:solidFill>
              <a:latin typeface="Instrument Sans"/>
              <a:ea typeface="Instrument Sans"/>
              <a:cs typeface="Instrument Sans"/>
              <a:sym typeface="Instrument Sans"/>
            </a:endParaRPr>
          </a:p>
        </p:txBody>
      </p:sp>
      <p:sp>
        <p:nvSpPr>
          <p:cNvPr id="302" name="Google Shape;302;p40"/>
          <p:cNvSpPr txBox="1"/>
          <p:nvPr/>
        </p:nvSpPr>
        <p:spPr>
          <a:xfrm>
            <a:off x="291100" y="293584"/>
            <a:ext cx="8520600" cy="547800"/>
          </a:xfrm>
          <a:prstGeom prst="rect">
            <a:avLst/>
          </a:prstGeom>
          <a:solidFill>
            <a:srgbClr val="EEEEEE"/>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2320">
                <a:solidFill>
                  <a:schemeClr val="dk1"/>
                </a:solidFill>
                <a:latin typeface="Instrument Sans"/>
                <a:ea typeface="Instrument Sans"/>
                <a:cs typeface="Instrument Sans"/>
                <a:sym typeface="Instrument Sans"/>
              </a:rPr>
              <a:t>Spatial Data Snapshot: M, 59 yo</a:t>
            </a:r>
            <a:endParaRPr b="1" sz="2320">
              <a:solidFill>
                <a:schemeClr val="dk1"/>
              </a:solidFill>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6" name="Shape 306"/>
        <p:cNvGrpSpPr/>
        <p:nvPr/>
      </p:nvGrpSpPr>
      <p:grpSpPr>
        <a:xfrm>
          <a:off x="0" y="0"/>
          <a:ext cx="0" cy="0"/>
          <a:chOff x="0" y="0"/>
          <a:chExt cx="0" cy="0"/>
        </a:xfrm>
      </p:grpSpPr>
      <p:sp>
        <p:nvSpPr>
          <p:cNvPr id="307" name="Google Shape;307;p41"/>
          <p:cNvSpPr txBox="1"/>
          <p:nvPr>
            <p:ph type="title"/>
          </p:nvPr>
        </p:nvSpPr>
        <p:spPr>
          <a:xfrm>
            <a:off x="311700" y="305225"/>
            <a:ext cx="8520600" cy="5931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920"/>
              <a:t>Validate CD40/CD40LG pathway and AFF3 expression in spatial dataset</a:t>
            </a:r>
            <a:endParaRPr b="1" sz="1920"/>
          </a:p>
        </p:txBody>
      </p:sp>
      <p:sp>
        <p:nvSpPr>
          <p:cNvPr id="308" name="Google Shape;308;p41"/>
          <p:cNvSpPr txBox="1"/>
          <p:nvPr/>
        </p:nvSpPr>
        <p:spPr>
          <a:xfrm>
            <a:off x="3781725" y="2738450"/>
            <a:ext cx="5223000" cy="4155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dk1"/>
                </a:solidFill>
                <a:latin typeface="Instrument Sans"/>
                <a:ea typeface="Instrument Sans"/>
                <a:cs typeface="Instrument Sans"/>
                <a:sym typeface="Instrument Sans"/>
              </a:rPr>
              <a:t>Upregulation of </a:t>
            </a:r>
            <a:r>
              <a:rPr b="1" lang="en" sz="1500">
                <a:solidFill>
                  <a:schemeClr val="dk1"/>
                </a:solidFill>
                <a:latin typeface="Instrument Sans"/>
                <a:ea typeface="Instrument Sans"/>
                <a:cs typeface="Instrument Sans"/>
                <a:sym typeface="Instrument Sans"/>
              </a:rPr>
              <a:t>CD40/CD40LG</a:t>
            </a:r>
            <a:r>
              <a:rPr lang="en" sz="1500">
                <a:solidFill>
                  <a:schemeClr val="dk1"/>
                </a:solidFill>
                <a:latin typeface="Instrument Sans"/>
                <a:ea typeface="Instrument Sans"/>
                <a:cs typeface="Instrument Sans"/>
                <a:sym typeface="Instrument Sans"/>
              </a:rPr>
              <a:t> in B/T cells in AIH livers</a:t>
            </a:r>
            <a:endParaRPr sz="1500">
              <a:solidFill>
                <a:schemeClr val="dk1"/>
              </a:solidFill>
              <a:latin typeface="Instrument Sans"/>
              <a:ea typeface="Instrument Sans"/>
              <a:cs typeface="Instrument Sans"/>
              <a:sym typeface="Instrument Sans"/>
            </a:endParaRPr>
          </a:p>
        </p:txBody>
      </p:sp>
      <p:sp>
        <p:nvSpPr>
          <p:cNvPr id="309" name="Google Shape;309;p41"/>
          <p:cNvSpPr txBox="1"/>
          <p:nvPr/>
        </p:nvSpPr>
        <p:spPr>
          <a:xfrm>
            <a:off x="3781725" y="4673825"/>
            <a:ext cx="5223000" cy="3849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Instrument Sans"/>
                <a:ea typeface="Instrument Sans"/>
                <a:cs typeface="Instrument Sans"/>
                <a:sym typeface="Instrument Sans"/>
              </a:rPr>
              <a:t>Upregulation of </a:t>
            </a:r>
            <a:r>
              <a:rPr b="1" lang="en" sz="1300">
                <a:solidFill>
                  <a:schemeClr val="dk1"/>
                </a:solidFill>
                <a:latin typeface="Instrument Sans"/>
                <a:ea typeface="Instrument Sans"/>
                <a:cs typeface="Instrument Sans"/>
                <a:sym typeface="Instrument Sans"/>
              </a:rPr>
              <a:t>AFF3</a:t>
            </a:r>
            <a:r>
              <a:rPr lang="en" sz="1300">
                <a:solidFill>
                  <a:schemeClr val="dk1"/>
                </a:solidFill>
                <a:latin typeface="Instrument Sans"/>
                <a:ea typeface="Instrument Sans"/>
                <a:cs typeface="Instrument Sans"/>
                <a:sym typeface="Instrument Sans"/>
              </a:rPr>
              <a:t> in Periportal Hepatocytes in AIH livers</a:t>
            </a:r>
            <a:endParaRPr sz="1300">
              <a:solidFill>
                <a:schemeClr val="dk1"/>
              </a:solidFill>
              <a:latin typeface="Instrument Sans"/>
              <a:ea typeface="Instrument Sans"/>
              <a:cs typeface="Instrument Sans"/>
              <a:sym typeface="Instrument Sans"/>
            </a:endParaRPr>
          </a:p>
        </p:txBody>
      </p:sp>
      <p:pic>
        <p:nvPicPr>
          <p:cNvPr id="310" name="Google Shape;310;p41"/>
          <p:cNvPicPr preferRelativeResize="0"/>
          <p:nvPr/>
        </p:nvPicPr>
        <p:blipFill rotWithShape="1">
          <a:blip r:embed="rId3">
            <a:alphaModFix/>
          </a:blip>
          <a:srcRect b="0" l="0" r="48036" t="50382"/>
          <a:stretch/>
        </p:blipFill>
        <p:spPr>
          <a:xfrm>
            <a:off x="4555884" y="3319250"/>
            <a:ext cx="1334999" cy="1189250"/>
          </a:xfrm>
          <a:prstGeom prst="rect">
            <a:avLst/>
          </a:prstGeom>
          <a:noFill/>
          <a:ln>
            <a:noFill/>
          </a:ln>
        </p:spPr>
      </p:pic>
      <p:pic>
        <p:nvPicPr>
          <p:cNvPr id="311" name="Google Shape;311;p41"/>
          <p:cNvPicPr preferRelativeResize="0"/>
          <p:nvPr/>
        </p:nvPicPr>
        <p:blipFill rotWithShape="1">
          <a:blip r:embed="rId4">
            <a:alphaModFix/>
          </a:blip>
          <a:srcRect b="0" l="0" r="0" t="30714"/>
          <a:stretch/>
        </p:blipFill>
        <p:spPr>
          <a:xfrm>
            <a:off x="6350850" y="3350512"/>
            <a:ext cx="2681074" cy="1126739"/>
          </a:xfrm>
          <a:prstGeom prst="rect">
            <a:avLst/>
          </a:prstGeom>
          <a:noFill/>
          <a:ln>
            <a:noFill/>
          </a:ln>
        </p:spPr>
      </p:pic>
      <p:pic>
        <p:nvPicPr>
          <p:cNvPr id="312" name="Google Shape;312;p41"/>
          <p:cNvPicPr preferRelativeResize="0"/>
          <p:nvPr/>
        </p:nvPicPr>
        <p:blipFill rotWithShape="1">
          <a:blip r:embed="rId5">
            <a:alphaModFix/>
          </a:blip>
          <a:srcRect b="0" l="0" r="43665" t="48382"/>
          <a:stretch/>
        </p:blipFill>
        <p:spPr>
          <a:xfrm>
            <a:off x="4463100" y="1218825"/>
            <a:ext cx="1447300" cy="1199125"/>
          </a:xfrm>
          <a:prstGeom prst="rect">
            <a:avLst/>
          </a:prstGeom>
          <a:noFill/>
          <a:ln>
            <a:noFill/>
          </a:ln>
        </p:spPr>
      </p:pic>
      <p:pic>
        <p:nvPicPr>
          <p:cNvPr id="313" name="Google Shape;313;p41"/>
          <p:cNvPicPr preferRelativeResize="0"/>
          <p:nvPr/>
        </p:nvPicPr>
        <p:blipFill rotWithShape="1">
          <a:blip r:embed="rId6">
            <a:alphaModFix/>
          </a:blip>
          <a:srcRect b="0" l="0" r="39994" t="21005"/>
          <a:stretch/>
        </p:blipFill>
        <p:spPr>
          <a:xfrm>
            <a:off x="6536475" y="968150"/>
            <a:ext cx="1385999" cy="1700476"/>
          </a:xfrm>
          <a:prstGeom prst="rect">
            <a:avLst/>
          </a:prstGeom>
          <a:noFill/>
          <a:ln>
            <a:noFill/>
          </a:ln>
        </p:spPr>
      </p:pic>
      <p:sp>
        <p:nvSpPr>
          <p:cNvPr id="314" name="Google Shape;314;p41"/>
          <p:cNvSpPr/>
          <p:nvPr/>
        </p:nvSpPr>
        <p:spPr>
          <a:xfrm>
            <a:off x="6542472" y="1103700"/>
            <a:ext cx="1335000" cy="182700"/>
          </a:xfrm>
          <a:prstGeom prst="rect">
            <a:avLst/>
          </a:prstGeom>
          <a:solidFill>
            <a:srgbClr val="FE7E7E">
              <a:alpha val="196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15" name="Google Shape;315;p41"/>
          <p:cNvSpPr/>
          <p:nvPr/>
        </p:nvSpPr>
        <p:spPr>
          <a:xfrm>
            <a:off x="6542472" y="1471741"/>
            <a:ext cx="1335000" cy="182700"/>
          </a:xfrm>
          <a:prstGeom prst="rect">
            <a:avLst/>
          </a:prstGeom>
          <a:solidFill>
            <a:srgbClr val="FE7E7E">
              <a:alpha val="196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16" name="Google Shape;316;p41"/>
          <p:cNvSpPr/>
          <p:nvPr/>
        </p:nvSpPr>
        <p:spPr>
          <a:xfrm>
            <a:off x="6350851" y="3816534"/>
            <a:ext cx="1772400" cy="182700"/>
          </a:xfrm>
          <a:prstGeom prst="rect">
            <a:avLst/>
          </a:prstGeom>
          <a:solidFill>
            <a:srgbClr val="FE7E7E">
              <a:alpha val="196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pic>
        <p:nvPicPr>
          <p:cNvPr id="317" name="Google Shape;317;p41"/>
          <p:cNvPicPr preferRelativeResize="0"/>
          <p:nvPr/>
        </p:nvPicPr>
        <p:blipFill rotWithShape="1">
          <a:blip r:embed="rId7">
            <a:alphaModFix/>
          </a:blip>
          <a:srcRect b="0" l="0" r="0" t="7098"/>
          <a:stretch/>
        </p:blipFill>
        <p:spPr>
          <a:xfrm>
            <a:off x="432050" y="968138"/>
            <a:ext cx="2892625" cy="2088236"/>
          </a:xfrm>
          <a:prstGeom prst="rect">
            <a:avLst/>
          </a:prstGeom>
          <a:noFill/>
          <a:ln>
            <a:noFill/>
          </a:ln>
        </p:spPr>
      </p:pic>
      <p:pic>
        <p:nvPicPr>
          <p:cNvPr id="318" name="Google Shape;318;p41"/>
          <p:cNvPicPr preferRelativeResize="0"/>
          <p:nvPr/>
        </p:nvPicPr>
        <p:blipFill rotWithShape="1">
          <a:blip r:embed="rId8">
            <a:alphaModFix/>
          </a:blip>
          <a:srcRect b="0" l="0" r="0" t="7313"/>
          <a:stretch/>
        </p:blipFill>
        <p:spPr>
          <a:xfrm>
            <a:off x="384914" y="3044925"/>
            <a:ext cx="2892634" cy="2083400"/>
          </a:xfrm>
          <a:prstGeom prst="rect">
            <a:avLst/>
          </a:prstGeom>
          <a:noFill/>
          <a:ln>
            <a:noFill/>
          </a:ln>
        </p:spPr>
      </p:pic>
      <p:sp>
        <p:nvSpPr>
          <p:cNvPr id="319" name="Google Shape;319;p41"/>
          <p:cNvSpPr txBox="1"/>
          <p:nvPr/>
        </p:nvSpPr>
        <p:spPr>
          <a:xfrm>
            <a:off x="432050" y="1103700"/>
            <a:ext cx="138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Instrument Sans"/>
                <a:ea typeface="Instrument Sans"/>
                <a:cs typeface="Instrument Sans"/>
                <a:sym typeface="Instrument Sans"/>
              </a:rPr>
              <a:t>Lymphocyte Annotations in core A5_B</a:t>
            </a:r>
            <a:endParaRPr sz="800">
              <a:solidFill>
                <a:schemeClr val="dk2"/>
              </a:solidFill>
              <a:latin typeface="Instrument Sans"/>
              <a:ea typeface="Instrument Sans"/>
              <a:cs typeface="Instrument Sans"/>
              <a:sym typeface="Instrument Sans"/>
            </a:endParaRPr>
          </a:p>
        </p:txBody>
      </p:sp>
      <p:sp>
        <p:nvSpPr>
          <p:cNvPr id="320" name="Google Shape;320;p41"/>
          <p:cNvSpPr txBox="1"/>
          <p:nvPr/>
        </p:nvSpPr>
        <p:spPr>
          <a:xfrm>
            <a:off x="432050" y="3197300"/>
            <a:ext cx="138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Instrument Sans"/>
                <a:ea typeface="Instrument Sans"/>
                <a:cs typeface="Instrument Sans"/>
                <a:sym typeface="Instrument Sans"/>
              </a:rPr>
              <a:t>Hepatocyte Annotations in core A5_B</a:t>
            </a:r>
            <a:endParaRPr sz="800">
              <a:solidFill>
                <a:schemeClr val="dk2"/>
              </a:solidFill>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4" name="Shape 324"/>
        <p:cNvGrpSpPr/>
        <p:nvPr/>
      </p:nvGrpSpPr>
      <p:grpSpPr>
        <a:xfrm>
          <a:off x="0" y="0"/>
          <a:ext cx="0" cy="0"/>
          <a:chOff x="0" y="0"/>
          <a:chExt cx="0" cy="0"/>
        </a:xfrm>
      </p:grpSpPr>
      <p:pic>
        <p:nvPicPr>
          <p:cNvPr id="325" name="Google Shape;325;p42"/>
          <p:cNvPicPr preferRelativeResize="0"/>
          <p:nvPr/>
        </p:nvPicPr>
        <p:blipFill rotWithShape="1">
          <a:blip r:embed="rId3">
            <a:alphaModFix/>
          </a:blip>
          <a:srcRect b="3404" l="0" r="0" t="11075"/>
          <a:stretch/>
        </p:blipFill>
        <p:spPr>
          <a:xfrm>
            <a:off x="257700" y="1240350"/>
            <a:ext cx="4121850" cy="1538099"/>
          </a:xfrm>
          <a:prstGeom prst="rect">
            <a:avLst/>
          </a:prstGeom>
          <a:noFill/>
          <a:ln>
            <a:noFill/>
          </a:ln>
        </p:spPr>
      </p:pic>
      <p:sp>
        <p:nvSpPr>
          <p:cNvPr id="326" name="Google Shape;326;p42"/>
          <p:cNvSpPr txBox="1"/>
          <p:nvPr>
            <p:ph type="title"/>
          </p:nvPr>
        </p:nvSpPr>
        <p:spPr>
          <a:xfrm>
            <a:off x="454900" y="224450"/>
            <a:ext cx="3831300" cy="9585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720">
                <a:solidFill>
                  <a:srgbClr val="FFA500"/>
                </a:solidFill>
              </a:rPr>
              <a:t>Portal Region </a:t>
            </a:r>
            <a:r>
              <a:rPr b="1" lang="en" sz="1720"/>
              <a:t>proportions are increased in diseased livers</a:t>
            </a:r>
            <a:endParaRPr b="1" sz="1720"/>
          </a:p>
        </p:txBody>
      </p:sp>
      <p:pic>
        <p:nvPicPr>
          <p:cNvPr id="327" name="Google Shape;327;p42"/>
          <p:cNvPicPr preferRelativeResize="0"/>
          <p:nvPr/>
        </p:nvPicPr>
        <p:blipFill>
          <a:blip r:embed="rId4">
            <a:alphaModFix/>
          </a:blip>
          <a:stretch>
            <a:fillRect/>
          </a:stretch>
        </p:blipFill>
        <p:spPr>
          <a:xfrm>
            <a:off x="1032250" y="2703625"/>
            <a:ext cx="2970830" cy="2371876"/>
          </a:xfrm>
          <a:prstGeom prst="rect">
            <a:avLst/>
          </a:prstGeom>
          <a:noFill/>
          <a:ln>
            <a:noFill/>
          </a:ln>
        </p:spPr>
      </p:pic>
      <p:cxnSp>
        <p:nvCxnSpPr>
          <p:cNvPr id="328" name="Google Shape;328;p42"/>
          <p:cNvCxnSpPr/>
          <p:nvPr/>
        </p:nvCxnSpPr>
        <p:spPr>
          <a:xfrm>
            <a:off x="2033166" y="2992455"/>
            <a:ext cx="584700" cy="115800"/>
          </a:xfrm>
          <a:prstGeom prst="straightConnector1">
            <a:avLst/>
          </a:prstGeom>
          <a:noFill/>
          <a:ln cap="flat" cmpd="sng" w="27625">
            <a:solidFill>
              <a:schemeClr val="dk1"/>
            </a:solidFill>
            <a:prstDash val="solid"/>
            <a:round/>
            <a:headEnd len="med" w="med" type="none"/>
            <a:tailEnd len="med" w="med" type="triangle"/>
          </a:ln>
        </p:spPr>
      </p:cxnSp>
      <p:pic>
        <p:nvPicPr>
          <p:cNvPr id="329" name="Google Shape;329;p42"/>
          <p:cNvPicPr preferRelativeResize="0"/>
          <p:nvPr/>
        </p:nvPicPr>
        <p:blipFill>
          <a:blip r:embed="rId5">
            <a:alphaModFix/>
          </a:blip>
          <a:stretch>
            <a:fillRect/>
          </a:stretch>
        </p:blipFill>
        <p:spPr>
          <a:xfrm>
            <a:off x="4740225" y="1095374"/>
            <a:ext cx="4339359" cy="20128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3" name="Shape 333"/>
        <p:cNvGrpSpPr/>
        <p:nvPr/>
      </p:nvGrpSpPr>
      <p:grpSpPr>
        <a:xfrm>
          <a:off x="0" y="0"/>
          <a:ext cx="0" cy="0"/>
          <a:chOff x="0" y="0"/>
          <a:chExt cx="0" cy="0"/>
        </a:xfrm>
      </p:grpSpPr>
      <p:pic>
        <p:nvPicPr>
          <p:cNvPr id="334" name="Google Shape;334;p43"/>
          <p:cNvPicPr preferRelativeResize="0"/>
          <p:nvPr/>
        </p:nvPicPr>
        <p:blipFill rotWithShape="1">
          <a:blip r:embed="rId3">
            <a:alphaModFix/>
          </a:blip>
          <a:srcRect b="0" l="30043" r="45105" t="61848"/>
          <a:stretch/>
        </p:blipFill>
        <p:spPr>
          <a:xfrm>
            <a:off x="6125275" y="1595150"/>
            <a:ext cx="2532879" cy="2794923"/>
          </a:xfrm>
          <a:prstGeom prst="rect">
            <a:avLst/>
          </a:prstGeom>
          <a:noFill/>
          <a:ln>
            <a:noFill/>
          </a:ln>
        </p:spPr>
      </p:pic>
      <p:pic>
        <p:nvPicPr>
          <p:cNvPr id="335" name="Google Shape;335;p43"/>
          <p:cNvPicPr preferRelativeResize="0"/>
          <p:nvPr/>
        </p:nvPicPr>
        <p:blipFill rotWithShape="1">
          <a:blip r:embed="rId3">
            <a:alphaModFix/>
          </a:blip>
          <a:srcRect b="39532" l="30690" r="0" t="26685"/>
          <a:stretch/>
        </p:blipFill>
        <p:spPr>
          <a:xfrm>
            <a:off x="311700" y="1595150"/>
            <a:ext cx="5753748" cy="2015772"/>
          </a:xfrm>
          <a:prstGeom prst="rect">
            <a:avLst/>
          </a:prstGeom>
          <a:noFill/>
          <a:ln>
            <a:noFill/>
          </a:ln>
        </p:spPr>
      </p:pic>
      <p:pic>
        <p:nvPicPr>
          <p:cNvPr id="336" name="Google Shape;336;p43"/>
          <p:cNvPicPr preferRelativeResize="0"/>
          <p:nvPr/>
        </p:nvPicPr>
        <p:blipFill>
          <a:blip r:embed="rId4">
            <a:alphaModFix/>
          </a:blip>
          <a:stretch>
            <a:fillRect/>
          </a:stretch>
        </p:blipFill>
        <p:spPr>
          <a:xfrm rot="-5400000">
            <a:off x="921039" y="3155947"/>
            <a:ext cx="744801" cy="1530804"/>
          </a:xfrm>
          <a:prstGeom prst="rect">
            <a:avLst/>
          </a:prstGeom>
          <a:noFill/>
          <a:ln>
            <a:noFill/>
          </a:ln>
        </p:spPr>
      </p:pic>
      <p:pic>
        <p:nvPicPr>
          <p:cNvPr id="337" name="Google Shape;337;p43"/>
          <p:cNvPicPr preferRelativeResize="0"/>
          <p:nvPr/>
        </p:nvPicPr>
        <p:blipFill>
          <a:blip r:embed="rId4">
            <a:alphaModFix/>
          </a:blip>
          <a:stretch>
            <a:fillRect/>
          </a:stretch>
        </p:blipFill>
        <p:spPr>
          <a:xfrm rot="-5400000">
            <a:off x="3586479" y="3155947"/>
            <a:ext cx="744801" cy="1530804"/>
          </a:xfrm>
          <a:prstGeom prst="rect">
            <a:avLst/>
          </a:prstGeom>
          <a:noFill/>
          <a:ln>
            <a:noFill/>
          </a:ln>
        </p:spPr>
      </p:pic>
      <p:sp>
        <p:nvSpPr>
          <p:cNvPr id="338" name="Google Shape;338;p43"/>
          <p:cNvSpPr/>
          <p:nvPr/>
        </p:nvSpPr>
        <p:spPr>
          <a:xfrm>
            <a:off x="1014062" y="1853625"/>
            <a:ext cx="182100" cy="1648200"/>
          </a:xfrm>
          <a:prstGeom prst="roundRect">
            <a:avLst>
              <a:gd fmla="val 16667" name="adj"/>
            </a:avLst>
          </a:prstGeom>
          <a:noFill/>
          <a:ln cap="flat" cmpd="sng" w="3810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39" name="Google Shape;339;p43"/>
          <p:cNvSpPr/>
          <p:nvPr/>
        </p:nvSpPr>
        <p:spPr>
          <a:xfrm>
            <a:off x="1579404" y="1853625"/>
            <a:ext cx="182100" cy="1648200"/>
          </a:xfrm>
          <a:prstGeom prst="roundRect">
            <a:avLst>
              <a:gd fmla="val 16667" name="adj"/>
            </a:avLst>
          </a:prstGeom>
          <a:noFill/>
          <a:ln cap="flat" cmpd="sng" w="3810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40" name="Google Shape;340;p43"/>
          <p:cNvSpPr/>
          <p:nvPr/>
        </p:nvSpPr>
        <p:spPr>
          <a:xfrm>
            <a:off x="4432168" y="1853625"/>
            <a:ext cx="182100" cy="1648200"/>
          </a:xfrm>
          <a:prstGeom prst="roundRect">
            <a:avLst>
              <a:gd fmla="val 16667" name="adj"/>
            </a:avLst>
          </a:prstGeom>
          <a:noFill/>
          <a:ln cap="flat" cmpd="sng" w="3810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41" name="Google Shape;341;p43"/>
          <p:cNvSpPr txBox="1"/>
          <p:nvPr/>
        </p:nvSpPr>
        <p:spPr>
          <a:xfrm>
            <a:off x="311700" y="579550"/>
            <a:ext cx="8520600" cy="533100"/>
          </a:xfrm>
          <a:prstGeom prst="rect">
            <a:avLst/>
          </a:prstGeom>
          <a:solidFill>
            <a:srgbClr val="EEEEEE"/>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1920">
                <a:solidFill>
                  <a:schemeClr val="dk1"/>
                </a:solidFill>
                <a:latin typeface="Instrument Sans"/>
                <a:ea typeface="Instrument Sans"/>
                <a:cs typeface="Instrument Sans"/>
                <a:sym typeface="Instrument Sans"/>
              </a:rPr>
              <a:t>Patient Groups roughly correspond with other clinical metadata</a:t>
            </a:r>
            <a:endParaRPr b="1" sz="1920">
              <a:solidFill>
                <a:schemeClr val="dk1"/>
              </a:solidFill>
              <a:latin typeface="Instrument Sans"/>
              <a:ea typeface="Instrument Sans"/>
              <a:cs typeface="Instrument Sans"/>
              <a:sym typeface="Instrument Sans"/>
            </a:endParaRPr>
          </a:p>
        </p:txBody>
      </p:sp>
      <p:sp>
        <p:nvSpPr>
          <p:cNvPr id="342" name="Google Shape;342;p43"/>
          <p:cNvSpPr/>
          <p:nvPr/>
        </p:nvSpPr>
        <p:spPr>
          <a:xfrm>
            <a:off x="7957350" y="1962725"/>
            <a:ext cx="232500" cy="1392900"/>
          </a:xfrm>
          <a:prstGeom prst="roundRect">
            <a:avLst>
              <a:gd fmla="val 16667" name="adj"/>
            </a:avLst>
          </a:prstGeom>
          <a:noFill/>
          <a:ln cap="flat" cmpd="sng" w="3810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6" name="Shape 346"/>
        <p:cNvGrpSpPr/>
        <p:nvPr/>
      </p:nvGrpSpPr>
      <p:grpSpPr>
        <a:xfrm>
          <a:off x="0" y="0"/>
          <a:ext cx="0" cy="0"/>
          <a:chOff x="0" y="0"/>
          <a:chExt cx="0" cy="0"/>
        </a:xfrm>
      </p:grpSpPr>
      <p:sp>
        <p:nvSpPr>
          <p:cNvPr id="347" name="Google Shape;347;p44"/>
          <p:cNvSpPr txBox="1"/>
          <p:nvPr>
            <p:ph type="title"/>
          </p:nvPr>
        </p:nvSpPr>
        <p:spPr>
          <a:xfrm>
            <a:off x="311700" y="305225"/>
            <a:ext cx="8520600" cy="593100"/>
          </a:xfrm>
          <a:prstGeom prst="rect">
            <a:avLst/>
          </a:prstGeom>
          <a:solidFill>
            <a:schemeClr val="lt2"/>
          </a:solidFill>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1920"/>
              <a:t>Validate CD40/CD40LG pathway and AFF3 expression in spatial dataset</a:t>
            </a:r>
            <a:endParaRPr b="1" sz="1920"/>
          </a:p>
        </p:txBody>
      </p:sp>
      <p:pic>
        <p:nvPicPr>
          <p:cNvPr id="348" name="Google Shape;348;p44"/>
          <p:cNvPicPr preferRelativeResize="0"/>
          <p:nvPr/>
        </p:nvPicPr>
        <p:blipFill rotWithShape="1">
          <a:blip r:embed="rId3">
            <a:alphaModFix/>
          </a:blip>
          <a:srcRect b="0" l="0" r="0" t="7098"/>
          <a:stretch/>
        </p:blipFill>
        <p:spPr>
          <a:xfrm>
            <a:off x="432050" y="968138"/>
            <a:ext cx="2892625" cy="2088236"/>
          </a:xfrm>
          <a:prstGeom prst="rect">
            <a:avLst/>
          </a:prstGeom>
          <a:noFill/>
          <a:ln>
            <a:noFill/>
          </a:ln>
        </p:spPr>
      </p:pic>
      <p:pic>
        <p:nvPicPr>
          <p:cNvPr id="349" name="Google Shape;349;p44"/>
          <p:cNvPicPr preferRelativeResize="0"/>
          <p:nvPr/>
        </p:nvPicPr>
        <p:blipFill rotWithShape="1">
          <a:blip r:embed="rId4">
            <a:alphaModFix/>
          </a:blip>
          <a:srcRect b="0" l="0" r="0" t="7313"/>
          <a:stretch/>
        </p:blipFill>
        <p:spPr>
          <a:xfrm>
            <a:off x="384914" y="3044925"/>
            <a:ext cx="2892634" cy="2083400"/>
          </a:xfrm>
          <a:prstGeom prst="rect">
            <a:avLst/>
          </a:prstGeom>
          <a:noFill/>
          <a:ln>
            <a:noFill/>
          </a:ln>
        </p:spPr>
      </p:pic>
      <p:sp>
        <p:nvSpPr>
          <p:cNvPr id="350" name="Google Shape;350;p44"/>
          <p:cNvSpPr txBox="1"/>
          <p:nvPr/>
        </p:nvSpPr>
        <p:spPr>
          <a:xfrm>
            <a:off x="432050" y="1103700"/>
            <a:ext cx="138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Instrument Sans"/>
                <a:ea typeface="Instrument Sans"/>
                <a:cs typeface="Instrument Sans"/>
                <a:sym typeface="Instrument Sans"/>
              </a:rPr>
              <a:t>Lymphocyte Annotations in core A5_B</a:t>
            </a:r>
            <a:endParaRPr sz="800">
              <a:solidFill>
                <a:schemeClr val="dk2"/>
              </a:solidFill>
              <a:latin typeface="Instrument Sans"/>
              <a:ea typeface="Instrument Sans"/>
              <a:cs typeface="Instrument Sans"/>
              <a:sym typeface="Instrument Sans"/>
            </a:endParaRPr>
          </a:p>
        </p:txBody>
      </p:sp>
      <p:sp>
        <p:nvSpPr>
          <p:cNvPr id="351" name="Google Shape;351;p44"/>
          <p:cNvSpPr txBox="1"/>
          <p:nvPr/>
        </p:nvSpPr>
        <p:spPr>
          <a:xfrm>
            <a:off x="432050" y="3197300"/>
            <a:ext cx="138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Instrument Sans"/>
                <a:ea typeface="Instrument Sans"/>
                <a:cs typeface="Instrument Sans"/>
                <a:sym typeface="Instrument Sans"/>
              </a:rPr>
              <a:t>Hepatocyte Annotations in core A5_B</a:t>
            </a:r>
            <a:endParaRPr sz="800">
              <a:solidFill>
                <a:schemeClr val="dk2"/>
              </a:solidFill>
              <a:latin typeface="Instrument Sans"/>
              <a:ea typeface="Instrument Sans"/>
              <a:cs typeface="Instrument Sans"/>
              <a:sym typeface="Instrument Sans"/>
            </a:endParaRPr>
          </a:p>
        </p:txBody>
      </p:sp>
      <p:pic>
        <p:nvPicPr>
          <p:cNvPr id="352" name="Google Shape;352;p44"/>
          <p:cNvPicPr preferRelativeResize="0"/>
          <p:nvPr/>
        </p:nvPicPr>
        <p:blipFill rotWithShape="1">
          <a:blip r:embed="rId5">
            <a:alphaModFix/>
          </a:blip>
          <a:srcRect b="0" l="0" r="39184" t="0"/>
          <a:stretch/>
        </p:blipFill>
        <p:spPr>
          <a:xfrm>
            <a:off x="3653527" y="1349725"/>
            <a:ext cx="1558200" cy="3462076"/>
          </a:xfrm>
          <a:prstGeom prst="rect">
            <a:avLst/>
          </a:prstGeom>
          <a:noFill/>
          <a:ln>
            <a:noFill/>
          </a:ln>
        </p:spPr>
      </p:pic>
      <p:pic>
        <p:nvPicPr>
          <p:cNvPr id="353" name="Google Shape;353;p44"/>
          <p:cNvPicPr preferRelativeResize="0"/>
          <p:nvPr/>
        </p:nvPicPr>
        <p:blipFill>
          <a:blip r:embed="rId6">
            <a:alphaModFix/>
          </a:blip>
          <a:stretch>
            <a:fillRect/>
          </a:stretch>
        </p:blipFill>
        <p:spPr>
          <a:xfrm>
            <a:off x="5900163" y="1349725"/>
            <a:ext cx="3155687" cy="3380576"/>
          </a:xfrm>
          <a:prstGeom prst="rect">
            <a:avLst/>
          </a:prstGeom>
          <a:noFill/>
          <a:ln>
            <a:noFill/>
          </a:ln>
        </p:spPr>
      </p:pic>
      <p:sp>
        <p:nvSpPr>
          <p:cNvPr id="354" name="Google Shape;354;p44"/>
          <p:cNvSpPr txBox="1"/>
          <p:nvPr/>
        </p:nvSpPr>
        <p:spPr>
          <a:xfrm>
            <a:off x="6040200" y="1103700"/>
            <a:ext cx="2792100" cy="5850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Instrument Sans"/>
                <a:ea typeface="Instrument Sans"/>
                <a:cs typeface="Instrument Sans"/>
                <a:sym typeface="Instrument Sans"/>
              </a:rPr>
              <a:t>Upregulation of </a:t>
            </a:r>
            <a:r>
              <a:rPr b="1" lang="en" sz="1300">
                <a:solidFill>
                  <a:schemeClr val="dk1"/>
                </a:solidFill>
                <a:latin typeface="Instrument Sans"/>
                <a:ea typeface="Instrument Sans"/>
                <a:cs typeface="Instrument Sans"/>
                <a:sym typeface="Instrument Sans"/>
              </a:rPr>
              <a:t>AFF3</a:t>
            </a:r>
            <a:r>
              <a:rPr lang="en" sz="1300">
                <a:solidFill>
                  <a:schemeClr val="dk1"/>
                </a:solidFill>
                <a:latin typeface="Instrument Sans"/>
                <a:ea typeface="Instrument Sans"/>
                <a:cs typeface="Instrument Sans"/>
                <a:sym typeface="Instrument Sans"/>
              </a:rPr>
              <a:t> in Periportal Hepatocytes in AIH livers</a:t>
            </a:r>
            <a:endParaRPr sz="1300">
              <a:solidFill>
                <a:schemeClr val="dk1"/>
              </a:solidFill>
              <a:latin typeface="Instrument Sans"/>
              <a:ea typeface="Instrument Sans"/>
              <a:cs typeface="Instrument Sans"/>
              <a:sym typeface="Instrument Sans"/>
            </a:endParaRPr>
          </a:p>
        </p:txBody>
      </p:sp>
      <p:sp>
        <p:nvSpPr>
          <p:cNvPr id="355" name="Google Shape;355;p44"/>
          <p:cNvSpPr/>
          <p:nvPr/>
        </p:nvSpPr>
        <p:spPr>
          <a:xfrm>
            <a:off x="3624500" y="2571750"/>
            <a:ext cx="1558200" cy="585000"/>
          </a:xfrm>
          <a:prstGeom prst="rect">
            <a:avLst/>
          </a:prstGeom>
          <a:solidFill>
            <a:srgbClr val="FE7E7E">
              <a:alpha val="196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56" name="Google Shape;356;p44"/>
          <p:cNvSpPr txBox="1"/>
          <p:nvPr/>
        </p:nvSpPr>
        <p:spPr>
          <a:xfrm>
            <a:off x="3324675" y="1103700"/>
            <a:ext cx="2617200" cy="5850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dk1"/>
                </a:solidFill>
                <a:latin typeface="Instrument Sans"/>
                <a:ea typeface="Instrument Sans"/>
                <a:cs typeface="Instrument Sans"/>
                <a:sym typeface="Instrument Sans"/>
              </a:rPr>
              <a:t>Upregulation of </a:t>
            </a:r>
            <a:r>
              <a:rPr b="1" lang="en" sz="1300">
                <a:solidFill>
                  <a:schemeClr val="dk1"/>
                </a:solidFill>
                <a:latin typeface="Instrument Sans"/>
                <a:ea typeface="Instrument Sans"/>
                <a:cs typeface="Instrument Sans"/>
                <a:sym typeface="Instrument Sans"/>
              </a:rPr>
              <a:t>CD40/CD40LG</a:t>
            </a:r>
            <a:r>
              <a:rPr lang="en" sz="1300">
                <a:solidFill>
                  <a:schemeClr val="dk1"/>
                </a:solidFill>
                <a:latin typeface="Instrument Sans"/>
                <a:ea typeface="Instrument Sans"/>
                <a:cs typeface="Instrument Sans"/>
                <a:sym typeface="Instrument Sans"/>
              </a:rPr>
              <a:t> in B/CD4+T cells in AIH livers</a:t>
            </a:r>
            <a:endParaRPr sz="1300">
              <a:solidFill>
                <a:schemeClr val="dk1"/>
              </a:solidFill>
              <a:latin typeface="Instrument Sans"/>
              <a:ea typeface="Instrument Sans"/>
              <a:cs typeface="Instrument Sans"/>
              <a:sym typeface="Instrument Sans"/>
            </a:endParaRPr>
          </a:p>
        </p:txBody>
      </p:sp>
      <p:sp>
        <p:nvSpPr>
          <p:cNvPr id="357" name="Google Shape;357;p44"/>
          <p:cNvSpPr/>
          <p:nvPr/>
        </p:nvSpPr>
        <p:spPr>
          <a:xfrm>
            <a:off x="5941875" y="3794125"/>
            <a:ext cx="2101800" cy="585000"/>
          </a:xfrm>
          <a:prstGeom prst="rect">
            <a:avLst/>
          </a:prstGeom>
          <a:solidFill>
            <a:srgbClr val="FE7E7E">
              <a:alpha val="196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
        <p:nvSpPr>
          <p:cNvPr id="358" name="Google Shape;358;p44"/>
          <p:cNvSpPr/>
          <p:nvPr/>
        </p:nvSpPr>
        <p:spPr>
          <a:xfrm>
            <a:off x="3581400" y="3747000"/>
            <a:ext cx="1601400" cy="585000"/>
          </a:xfrm>
          <a:prstGeom prst="rect">
            <a:avLst/>
          </a:prstGeom>
          <a:solidFill>
            <a:srgbClr val="FE7E7E">
              <a:alpha val="19620"/>
            </a:srgbClr>
          </a:solidFill>
          <a:ln cap="flat" cmpd="sng" w="19050">
            <a:solidFill>
              <a:srgbClr val="D6272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strument Sans"/>
              <a:ea typeface="Instrument Sans"/>
              <a:cs typeface="Instrument Sans"/>
              <a:sym typeface="Instrument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